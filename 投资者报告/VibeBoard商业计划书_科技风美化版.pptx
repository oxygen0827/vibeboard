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580285" y="6325398"/>
            <a:ext cx="32546" cy="3254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41323" y="5215161"/>
            <a:ext cx="23034" cy="2303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06586" y="5225547"/>
            <a:ext cx="33407" cy="3340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48322" y="389825"/>
            <a:ext cx="35246" cy="3524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0605" y="6664210"/>
            <a:ext cx="19443" cy="19443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48953" y="5627816"/>
            <a:ext cx="37350" cy="3735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4974" y="5465196"/>
            <a:ext cx="18593" cy="1859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04828" y="718326"/>
            <a:ext cx="24076" cy="2407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01676" y="1348655"/>
            <a:ext cx="26444" cy="2644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0358" y="1316701"/>
            <a:ext cx="29264" cy="2926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58611" y="6588820"/>
            <a:ext cx="28431" cy="2843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82356" y="515348"/>
            <a:ext cx="32145" cy="3214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59792" y="132992"/>
            <a:ext cx="18514" cy="1851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9398" y="5482172"/>
            <a:ext cx="18175" cy="18175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20658" y="6240049"/>
            <a:ext cx="28156" cy="2815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3722" y="415906"/>
            <a:ext cx="40297" cy="4029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4212" y="5952830"/>
            <a:ext cx="29907" cy="2990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184270" y="6199489"/>
            <a:ext cx="32749" cy="3274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07523" y="6468120"/>
            <a:ext cx="39103" cy="39103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0590" y="5530423"/>
            <a:ext cx="20693" cy="2069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599" y="825461"/>
            <a:ext cx="28614" cy="2861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80957" y="1243172"/>
            <a:ext cx="37630" cy="3763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04067" y="5715146"/>
            <a:ext cx="35418" cy="35418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16875" y="5523660"/>
            <a:ext cx="31277" cy="3127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17171" y="6258312"/>
            <a:ext cx="19800" cy="1980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7310" y="5710826"/>
            <a:ext cx="18351" cy="1835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01/15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02920"/>
            <a:ext cx="3657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 i="0">
                <a:solidFill>
                  <a:srgbClr val="19D9FF"/>
                </a:solidFill>
                <a:latin typeface="Microsoft YaHei"/>
              </a:rPr>
              <a:t>浦软创业营 · 天使轮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987552"/>
            <a:ext cx="512064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4400" b="1" i="0">
                <a:solidFill>
                  <a:srgbClr val="F6FAFF"/>
                </a:solidFill>
                <a:latin typeface="Microsoft YaHei"/>
              </a:rPr>
              <a:t>VibeBoard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1783080"/>
            <a:ext cx="6400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400" b="1" i="0">
                <a:solidFill>
                  <a:srgbClr val="F6FAFF"/>
                </a:solidFill>
                <a:latin typeface="Microsoft YaHei"/>
              </a:rPr>
              <a:t>用一句话，造出属于自己的 AI 硬件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2359152"/>
            <a:ext cx="5669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0" i="0">
                <a:solidFill>
                  <a:srgbClr val="C8D8F2"/>
                </a:solidFill>
                <a:latin typeface="Microsoft YaHei"/>
              </a:rPr>
              <a:t>AI 已推开软件创造之门；VibeBoard 要把硬件这道门也推开。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2999232"/>
            <a:ext cx="5623560" cy="1051560"/>
          </a:xfrm>
          <a:prstGeom prst="roundRect">
            <a:avLst/>
          </a:prstGeom>
          <a:solidFill>
            <a:srgbClr val="0D203A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3182112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 i="0">
                <a:solidFill>
                  <a:srgbClr val="19D9FF"/>
                </a:solidFill>
                <a:latin typeface="Microsoft YaHei"/>
              </a:rPr>
              <a:t>核心命题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" y="3493008"/>
            <a:ext cx="46634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700" b="1" i="0">
                <a:solidFill>
                  <a:srgbClr val="F6FAFF"/>
                </a:solidFill>
                <a:latin typeface="Microsoft YaHei"/>
              </a:rPr>
              <a:t>把「AI 生成代码」推进到「真实设备可运行」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4434840"/>
            <a:ext cx="1508760" cy="85039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4544568"/>
            <a:ext cx="1289304" cy="38267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19D9FF"/>
                </a:solidFill>
                <a:latin typeface="Microsoft YaHe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" y="4928067"/>
            <a:ext cx="128930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款开发板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95728" y="4434840"/>
            <a:ext cx="1508760" cy="85039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05456" y="4544568"/>
            <a:ext cx="1289304" cy="38267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8C5CFF"/>
                </a:solidFill>
                <a:latin typeface="Microsoft YaHei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05456" y="4928067"/>
            <a:ext cx="128930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外设技能包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33087" y="4434840"/>
            <a:ext cx="1508760" cy="85039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42816" y="4544568"/>
            <a:ext cx="1289304" cy="38267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5DFFB3"/>
                </a:solidFill>
                <a:latin typeface="Microsoft YaHei"/>
              </a:rPr>
              <a:t>109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42816" y="4928067"/>
            <a:ext cx="128930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月内代码提交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5650992"/>
            <a:ext cx="5943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00" b="0" i="0">
                <a:solidFill>
                  <a:srgbClr val="F6FAFF"/>
                </a:solidFill>
                <a:latin typeface="Microsoft YaHei"/>
              </a:rPr>
              <a:t>自然语言 → 工程代码 → 云端编译 → WiFi / 蓝牙烧录到真实硬件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84848" y="932688"/>
            <a:ext cx="4626864" cy="2843784"/>
          </a:xfrm>
          <a:prstGeom prst="roundRect">
            <a:avLst/>
          </a:prstGeom>
          <a:solidFill>
            <a:srgbClr val="0E2445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_ecea2d92143d7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960120"/>
            <a:ext cx="4572000" cy="278892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903720" y="3456432"/>
            <a:ext cx="4389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 i="0">
                <a:solidFill>
                  <a:srgbClr val="F6FAFF"/>
                </a:solidFill>
                <a:latin typeface="Microsoft YaHei"/>
              </a:rPr>
              <a:t>Hardware Vibe Coding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03720" y="4005072"/>
            <a:ext cx="4343400" cy="107899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7013448" y="4142232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013448" y="4142232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132320" y="4187952"/>
            <a:ext cx="3931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项目：VibeBoard／ESP32 Vibe Coder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23176" y="4626864"/>
            <a:ext cx="3931920" cy="3657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AI Hardware Creation Platform</a:t>
            </a:r>
          </a:p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面向开发板、外设技能包、项目市场的硬件创造入口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903720" y="5413248"/>
            <a:ext cx="1417320" cy="29260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76872" y="5477256"/>
            <a:ext cx="127101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AI 开发平台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49640" y="5413248"/>
            <a:ext cx="1143000" cy="29260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22792" y="5477256"/>
            <a:ext cx="99669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云端编译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30384" y="5413248"/>
            <a:ext cx="1325880" cy="29260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03536" y="5477256"/>
            <a:ext cx="1179576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无线烧录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927255" y="5459456"/>
            <a:ext cx="22670" cy="2267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4428" y="6269875"/>
            <a:ext cx="29894" cy="2989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47788" y="6540154"/>
            <a:ext cx="38476" cy="3847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50524" y="5958474"/>
            <a:ext cx="41115" cy="4111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7671" y="6541219"/>
            <a:ext cx="35957" cy="3595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10556" y="1006947"/>
            <a:ext cx="28557" cy="2855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77252" y="5886559"/>
            <a:ext cx="28472" cy="2847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76952" y="6545462"/>
            <a:ext cx="23947" cy="2394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96159" y="5516126"/>
            <a:ext cx="39522" cy="3952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97445" y="1367847"/>
            <a:ext cx="23201" cy="2320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40011" y="1299374"/>
            <a:ext cx="17861" cy="1786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0543" y="123885"/>
            <a:ext cx="25670" cy="2567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7311" y="146692"/>
            <a:ext cx="40427" cy="4042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38364" y="5257157"/>
            <a:ext cx="30075" cy="3007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937861" y="287887"/>
            <a:ext cx="32774" cy="3277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72812" y="5786985"/>
            <a:ext cx="20010" cy="20010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172" y="805705"/>
            <a:ext cx="22704" cy="2270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07476" y="1287276"/>
            <a:ext cx="34083" cy="3408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43472" y="5587509"/>
            <a:ext cx="23340" cy="2334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76975" y="203865"/>
            <a:ext cx="20946" cy="2094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23074" y="777008"/>
            <a:ext cx="34455" cy="3445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44459" y="1280555"/>
            <a:ext cx="32835" cy="3283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808080" y="6651010"/>
            <a:ext cx="24070" cy="2407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77965" y="1148076"/>
            <a:ext cx="26598" cy="2659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59886" y="122345"/>
            <a:ext cx="21870" cy="21870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3743" y="1056143"/>
            <a:ext cx="22734" cy="2273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02/15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02 / Investment Thesis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已经跑通的 AI 硬件创造平台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一句话生成工程、云端编译、无线烧录、真机运行已形成闭环；本轮融资用于把验证扩展到硬件出货与社区复刻。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1828800"/>
            <a:ext cx="2423160" cy="1874519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768096" y="1965960"/>
            <a:ext cx="274319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68096" y="196596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13816" y="202996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25295" y="201168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3 款开发板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" y="2450592"/>
            <a:ext cx="2011679" cy="116128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ESP32-S3 等真实硬件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已接入验证链路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74720" y="1828800"/>
            <a:ext cx="2423160" cy="1874519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3584448" y="1965960"/>
            <a:ext cx="274320" cy="0"/>
          </a:xfrm>
          <a:prstGeom prst="line">
            <a:avLst/>
          </a:prstGeom>
          <a:ln w="21590">
            <a:solidFill>
              <a:srgbClr val="3A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584448" y="1965960"/>
            <a:ext cx="0" cy="274320"/>
          </a:xfrm>
          <a:prstGeom prst="line">
            <a:avLst/>
          </a:prstGeom>
          <a:ln w="21590">
            <a:solidFill>
              <a:srgbClr val="3A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630168" y="2029968"/>
            <a:ext cx="329184" cy="329184"/>
          </a:xfrm>
          <a:prstGeom prst="round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30168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&lt;/&gt;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41648" y="201168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3 套框架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94176" y="2450592"/>
            <a:ext cx="2011679" cy="116128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Arduino / ESP-IDF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前后端工程链路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91072" y="1828800"/>
            <a:ext cx="2423160" cy="1874519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400800" y="1965960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400800" y="1965960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6446520" y="2029968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201168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25 外设技能包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0528" y="2450592"/>
            <a:ext cx="2011679" cy="116128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把传感器、屏幕、I/O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沉淀为 AI 可调用上下文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07424" y="1828800"/>
            <a:ext cx="2423160" cy="1874519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9217152" y="1965960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217152" y="1965960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9262872" y="2029968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62872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Git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74352" y="201168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109 月内提交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6880" y="2450592"/>
            <a:ext cx="2011679" cy="116128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持续迭代，证明小团队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能快速推进产品闭环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8368" y="4114800"/>
            <a:ext cx="10835640" cy="1097280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" y="43708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 i="0">
                <a:solidFill>
                  <a:srgbClr val="19D9FF"/>
                </a:solidFill>
                <a:latin typeface="Microsoft YaHei"/>
              </a:rPr>
              <a:t>投资判断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14600" y="4325112"/>
            <a:ext cx="813816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800" b="1" i="0">
                <a:solidFill>
                  <a:srgbClr val="F6FAFF"/>
                </a:solidFill>
                <a:latin typeface="Microsoft YaHei"/>
              </a:rPr>
              <a:t>不是“AI 写硬件代码”的概念页，而是已走到真机演示闭环的早期平台。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" y="5074920"/>
            <a:ext cx="996696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C8D8F2"/>
                </a:solidFill>
                <a:latin typeface="Microsoft YaHei"/>
              </a:defRPr>
            </a:pPr>
            <a:r>
              <a:t>本轮融资目标：把可演示闭环推进到硬件出货、项目市场、社区复刻和数据飞轮。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586861" y="698304"/>
            <a:ext cx="38896" cy="3889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9280" y="1162244"/>
            <a:ext cx="22185" cy="22185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0212" y="6076882"/>
            <a:ext cx="35718" cy="3571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726580" y="6383841"/>
            <a:ext cx="40261" cy="4026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67238" y="6128891"/>
            <a:ext cx="26856" cy="2685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52501" y="6571164"/>
            <a:ext cx="40925" cy="4092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58172" y="819988"/>
            <a:ext cx="32086" cy="3208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03182" y="6383382"/>
            <a:ext cx="38607" cy="3860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98213" y="5277829"/>
            <a:ext cx="30059" cy="3005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4523" y="859232"/>
            <a:ext cx="40442" cy="4044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63042" y="6614637"/>
            <a:ext cx="25760" cy="2576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06164" y="6399354"/>
            <a:ext cx="27104" cy="2710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55520" y="5228842"/>
            <a:ext cx="40838" cy="4083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37581" y="5894223"/>
            <a:ext cx="31491" cy="3149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97381" y="5879682"/>
            <a:ext cx="20839" cy="2083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573057" y="225692"/>
            <a:ext cx="24113" cy="2411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765934" y="6090963"/>
            <a:ext cx="33122" cy="3312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91314" y="6506721"/>
            <a:ext cx="23139" cy="2313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85151" y="326459"/>
            <a:ext cx="36364" cy="3636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62815" y="6139909"/>
            <a:ext cx="26822" cy="2682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84788" y="1354847"/>
            <a:ext cx="17257" cy="1725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41334" y="1189793"/>
            <a:ext cx="36461" cy="3646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271033" y="830032"/>
            <a:ext cx="20701" cy="2070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707000" y="5395553"/>
            <a:ext cx="36495" cy="36495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5435" y="310734"/>
            <a:ext cx="36790" cy="3679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10703" y="6116369"/>
            <a:ext cx="17717" cy="1771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03/15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03 / Opportunity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软件门槛已被 AI 推开，硬件还没有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通用大模型能生成“看似正确”的代码，但硬件开发成败取决于板卡引脚、外设初始化、运行日志和真机调试反馈。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1874519"/>
            <a:ext cx="434340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500" b="1" i="0">
                <a:solidFill>
                  <a:srgbClr val="F6FAFF"/>
                </a:solidFill>
                <a:latin typeface="Microsoft YaHei"/>
              </a:rPr>
              <a:t>AI 写代码已经很强，</a:t>
            </a:r>
            <a:br/>
            <a:r>
              <a:rPr sz="2500" b="1" i="0">
                <a:solidFill>
                  <a:srgbClr val="F6FAFF"/>
                </a:solidFill>
                <a:latin typeface="Microsoft YaHei"/>
              </a:rPr>
              <a:t>但它仍然不知道这块板子真实怎么跑。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2999232"/>
            <a:ext cx="4206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600" b="1" i="0">
                <a:solidFill>
                  <a:srgbClr val="19D9FF"/>
                </a:solidFill>
                <a:latin typeface="Microsoft YaHei"/>
              </a:rPr>
              <a:t>VibeBoard 的切入点：把硬件上下文变成 AI 的可用能力。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23560" y="1783080"/>
            <a:ext cx="5212080" cy="7132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5733288" y="1920240"/>
            <a:ext cx="274320" cy="0"/>
          </a:xfrm>
          <a:prstGeom prst="line">
            <a:avLst/>
          </a:prstGeom>
          <a:ln w="2159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733288" y="1920240"/>
            <a:ext cx="0" cy="274320"/>
          </a:xfrm>
          <a:prstGeom prst="line">
            <a:avLst/>
          </a:prstGeom>
          <a:ln w="2159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779008" y="1984248"/>
            <a:ext cx="329184" cy="329184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79008" y="201168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0488" y="1965960"/>
            <a:ext cx="44988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看似能生成代码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43016" y="2404872"/>
            <a:ext cx="4800600" cy="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19" b="0">
                <a:solidFill>
                  <a:srgbClr val="C8D8F2"/>
                </a:solidFill>
                <a:latin typeface="Microsoft YaHei"/>
              </a:defRPr>
            </a:pPr>
            <a:r>
              <a:t>语法正确，但没有板卡真实约束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183879" y="2496312"/>
            <a:ext cx="0" cy="228600"/>
          </a:xfrm>
          <a:prstGeom prst="line">
            <a:avLst/>
          </a:prstGeom>
          <a:ln w="17780">
            <a:solidFill>
              <a:srgbClr val="294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623560" y="2743200"/>
            <a:ext cx="5212080" cy="7132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5733288" y="2880360"/>
            <a:ext cx="274320" cy="0"/>
          </a:xfrm>
          <a:prstGeom prst="line">
            <a:avLst/>
          </a:prstGeom>
          <a:ln w="2159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33288" y="2880360"/>
            <a:ext cx="0" cy="274320"/>
          </a:xfrm>
          <a:prstGeom prst="line">
            <a:avLst/>
          </a:prstGeom>
          <a:ln w="2159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779008" y="2944368"/>
            <a:ext cx="329184" cy="329184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79008" y="29718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0488" y="2926080"/>
            <a:ext cx="44988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不了解外设细节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43016" y="3364992"/>
            <a:ext cx="4800600" cy="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19" b="0">
                <a:solidFill>
                  <a:srgbClr val="C8D8F2"/>
                </a:solidFill>
                <a:latin typeface="Microsoft YaHei"/>
              </a:defRPr>
            </a:pPr>
            <a:r>
              <a:t>I2C 地址、PSRAM、LVGL 线程锁常被忽略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183879" y="3456432"/>
            <a:ext cx="0" cy="228600"/>
          </a:xfrm>
          <a:prstGeom prst="line">
            <a:avLst/>
          </a:prstGeom>
          <a:ln w="17780">
            <a:solidFill>
              <a:srgbClr val="294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5623560" y="3703320"/>
            <a:ext cx="5212080" cy="7132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5733288" y="3840480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733288" y="3840480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5779008" y="3904487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79008" y="393192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90488" y="3886200"/>
            <a:ext cx="44988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缺少真机反馈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43016" y="4325112"/>
            <a:ext cx="4800600" cy="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19" b="0">
                <a:solidFill>
                  <a:srgbClr val="C8D8F2"/>
                </a:solidFill>
                <a:latin typeface="Microsoft YaHei"/>
              </a:defRPr>
            </a:pPr>
            <a:r>
              <a:t>没有日志、编译错误、烧录状态闭环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183879" y="4416552"/>
            <a:ext cx="0" cy="228600"/>
          </a:xfrm>
          <a:prstGeom prst="line">
            <a:avLst/>
          </a:prstGeom>
          <a:ln w="17780">
            <a:solidFill>
              <a:srgbClr val="294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5623560" y="4663440"/>
            <a:ext cx="5212080" cy="7132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5733288" y="480060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733288" y="480060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5779008" y="486460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79008" y="48920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90488" y="4846320"/>
            <a:ext cx="44988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结果不可复刻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43016" y="5285232"/>
            <a:ext cx="4800600" cy="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19" b="0">
                <a:solidFill>
                  <a:srgbClr val="C8D8F2"/>
                </a:solidFill>
                <a:latin typeface="Microsoft YaHei"/>
              </a:defRPr>
            </a:pPr>
            <a:r>
              <a:t>Demo 看起来像，但用户无法稳定运行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23560" y="1389888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 i="0">
                <a:solidFill>
                  <a:srgbClr val="19D9FF"/>
                </a:solidFill>
                <a:latin typeface="Microsoft YaHei"/>
              </a:rPr>
              <a:t>通用 AI 的硬件失败链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44708" y="5241073"/>
            <a:ext cx="36221" cy="3622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0616" y="426482"/>
            <a:ext cx="36924" cy="3692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91919" y="6453512"/>
            <a:ext cx="18600" cy="1860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93337" y="6594035"/>
            <a:ext cx="16637" cy="1663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45030" y="6088312"/>
            <a:ext cx="27603" cy="2760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79615" y="5622365"/>
            <a:ext cx="33763" cy="3376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713253" y="5732674"/>
            <a:ext cx="32122" cy="3212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99834" y="5559430"/>
            <a:ext cx="39532" cy="3953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93858" y="1032201"/>
            <a:ext cx="24428" cy="2442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59683" y="962004"/>
            <a:ext cx="38533" cy="38533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07907" y="103468"/>
            <a:ext cx="25475" cy="2547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88772" y="236889"/>
            <a:ext cx="31162" cy="3116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963" y="5986381"/>
            <a:ext cx="32546" cy="3254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8892" y="5575771"/>
            <a:ext cx="36976" cy="3697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2216" y="5822364"/>
            <a:ext cx="19957" cy="1995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77405" y="928630"/>
            <a:ext cx="28662" cy="2866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6459" y="6173164"/>
            <a:ext cx="36576" cy="3657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255451" y="5320901"/>
            <a:ext cx="40204" cy="4020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683959" y="945549"/>
            <a:ext cx="33441" cy="3344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8145" y="5441400"/>
            <a:ext cx="19320" cy="19320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25219" y="6409474"/>
            <a:ext cx="39055" cy="3905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752" y="1198419"/>
            <a:ext cx="17480" cy="1748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9325" y="6007064"/>
            <a:ext cx="21529" cy="2152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0201" y="6551866"/>
            <a:ext cx="29111" cy="2911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38706" y="6572341"/>
            <a:ext cx="26889" cy="2688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03062" y="724165"/>
            <a:ext cx="34000" cy="3400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04/15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04 / Product 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VibeBoard 是三层平台，不只是开发板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硬件统一只是入口，真正价值来自 AI 开发平台、项目市场与标准化硬件之间形成的复合网络。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1828800"/>
            <a:ext cx="3154680" cy="333756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822960" y="196596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22960" y="196596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68680" y="202996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60" y="2011680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500" b="1" i="0">
                <a:solidFill>
                  <a:srgbClr val="F6FAFF"/>
                </a:solidFill>
                <a:latin typeface="Microsoft YaHei"/>
              </a:rPr>
              <a:t>AI 开发平台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2450592"/>
            <a:ext cx="2743200" cy="2624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把自然语言变成可运行工程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板卡上下文注入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AI 生成项目结构与代码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云端编译与日志反馈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WiFi / 蓝牙 / USB 烧录闭环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7552" y="4754880"/>
            <a:ext cx="26060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 i="0">
                <a:solidFill>
                  <a:srgbClr val="19D9FF"/>
                </a:solidFill>
                <a:latin typeface="Microsoft YaHei"/>
              </a:rPr>
              <a:t>软件入口与效率杠杆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959352" y="3429000"/>
            <a:ext cx="365760" cy="0"/>
          </a:xfrm>
          <a:prstGeom prst="line">
            <a:avLst/>
          </a:prstGeom>
          <a:ln w="1778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416552" y="1828800"/>
            <a:ext cx="3154680" cy="333756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526280" y="1965960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26280" y="1965960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4572000" y="2029968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0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83480" y="2011680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500" b="1" i="0">
                <a:solidFill>
                  <a:srgbClr val="F6FAFF"/>
                </a:solidFill>
                <a:latin typeface="Microsoft YaHei"/>
              </a:rPr>
              <a:t>项目市场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36008" y="2450592"/>
            <a:ext cx="2743200" cy="2624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把一次创造变成多人复刻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创作者上传可运行项目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普通用户一键复刻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围绕作品形成内容传播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沉淀使用反馈与复刻数据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90872" y="4754880"/>
            <a:ext cx="26060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 i="0">
                <a:solidFill>
                  <a:srgbClr val="8C5CFF"/>
                </a:solidFill>
                <a:latin typeface="Microsoft YaHei"/>
              </a:rPr>
              <a:t>内容复刻与增长杠杆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662671" y="3429000"/>
            <a:ext cx="365761" cy="0"/>
          </a:xfrm>
          <a:prstGeom prst="line">
            <a:avLst/>
          </a:prstGeom>
          <a:ln w="1778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8119871" y="1828800"/>
            <a:ext cx="3154680" cy="333756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8229599" y="1965960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229599" y="1965960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275319" y="2029968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75319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板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799" y="2011680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500" b="1" i="0">
                <a:solidFill>
                  <a:srgbClr val="F6FAFF"/>
                </a:solidFill>
                <a:latin typeface="Microsoft YaHei"/>
              </a:rPr>
              <a:t>标准化硬件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2450592"/>
            <a:ext cx="2743200" cy="2624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降低真机运行的不确定性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统一板卡与外设套件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预置技能包和驱动模板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承接供应链与品牌交付</a:t>
            </a:r>
          </a:p>
          <a:p>
            <a:pPr>
              <a:spcAft>
                <a:spcPts val="300"/>
              </a:spcAft>
              <a:defRPr sz="940" b="0">
                <a:solidFill>
                  <a:srgbClr val="C8D8F2"/>
                </a:solidFill>
                <a:latin typeface="Microsoft YaHei"/>
              </a:defRPr>
            </a:pPr>
            <a:r>
              <a:t>· 让硬件成为“稳定容器”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94192" y="4754880"/>
            <a:ext cx="26060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 i="0">
                <a:solidFill>
                  <a:srgbClr val="5DFFB3"/>
                </a:solidFill>
                <a:latin typeface="Microsoft YaHei"/>
              </a:rPr>
              <a:t>交付标准与供应链杠杆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" y="5623560"/>
            <a:ext cx="103327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300" b="1" i="0">
                <a:solidFill>
                  <a:srgbClr val="F6FAFF"/>
                </a:solidFill>
                <a:latin typeface="Microsoft YaHei"/>
              </a:rPr>
              <a:t>三层互相增强：AI 让硬件可创造，市场让作品可复刻，标准化硬件让复刻可交付。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753374" y="5987549"/>
            <a:ext cx="35616" cy="3561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21385" y="578871"/>
            <a:ext cx="16782" cy="1678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8113" y="5317319"/>
            <a:ext cx="19587" cy="1958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3646" y="461796"/>
            <a:ext cx="20944" cy="2094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673442" y="6581182"/>
            <a:ext cx="18067" cy="1806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16971" y="6409604"/>
            <a:ext cx="33652" cy="3365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8827" y="5735327"/>
            <a:ext cx="16905" cy="1690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14182" y="323045"/>
            <a:ext cx="19397" cy="1939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89250" y="6307016"/>
            <a:ext cx="37684" cy="3768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6719" y="5428896"/>
            <a:ext cx="39276" cy="3927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1419" y="6267129"/>
            <a:ext cx="41067" cy="4106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46899" y="6081067"/>
            <a:ext cx="27709" cy="2770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718358" y="519250"/>
            <a:ext cx="32023" cy="32023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25871" y="468847"/>
            <a:ext cx="40555" cy="4055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4635" y="5426424"/>
            <a:ext cx="36754" cy="3675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95363" y="5965807"/>
            <a:ext cx="18017" cy="1801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68966" y="6434058"/>
            <a:ext cx="35463" cy="3546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28889" y="6344058"/>
            <a:ext cx="33041" cy="3304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177955" y="5717680"/>
            <a:ext cx="25101" cy="2510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93360" y="5502717"/>
            <a:ext cx="39602" cy="3960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19143" y="6581814"/>
            <a:ext cx="23931" cy="2393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108566" y="656078"/>
            <a:ext cx="35197" cy="3519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471060" y="5407435"/>
            <a:ext cx="40357" cy="4035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535137" y="874634"/>
            <a:ext cx="34186" cy="3418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64523" y="973285"/>
            <a:ext cx="30036" cy="3003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06803" y="6409610"/>
            <a:ext cx="26562" cy="2656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05/15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05 / Workflow Demo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从一句话到真机运行，完整链路已打通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平台不是停在代码生成，而是把生成、编译、烧录和设备运行串成可演示的产品闭环。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1755648"/>
            <a:ext cx="1874519" cy="11704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76656" y="1892807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6656" y="1892807"/>
            <a:ext cx="0" cy="274321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22376" y="1956816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" y="198424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1938528"/>
            <a:ext cx="11612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需求描述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" y="2377440"/>
            <a:ext cx="1463039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C8D8F2"/>
                </a:solidFill>
                <a:latin typeface="Microsoft YaHei"/>
              </a:defRPr>
            </a:pPr>
            <a:r>
              <a:t>一句话说想做什么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450592" y="2340864"/>
            <a:ext cx="292608" cy="0"/>
          </a:xfrm>
          <a:prstGeom prst="line">
            <a:avLst/>
          </a:prstGeom>
          <a:ln w="1778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807208" y="1755648"/>
            <a:ext cx="1874519" cy="11704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916936" y="1892807"/>
            <a:ext cx="274320" cy="0"/>
          </a:xfrm>
          <a:prstGeom prst="line">
            <a:avLst/>
          </a:prstGeom>
          <a:ln w="21590">
            <a:solidFill>
              <a:srgbClr val="3A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916936" y="1892807"/>
            <a:ext cx="0" cy="274321"/>
          </a:xfrm>
          <a:prstGeom prst="line">
            <a:avLst/>
          </a:prstGeom>
          <a:ln w="21590">
            <a:solidFill>
              <a:srgbClr val="3A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2962656" y="1956816"/>
            <a:ext cx="329184" cy="329184"/>
          </a:xfrm>
          <a:prstGeom prst="round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62656" y="198424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74136" y="1938528"/>
            <a:ext cx="11612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生成工程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26664" y="2377440"/>
            <a:ext cx="1463039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C8D8F2"/>
                </a:solidFill>
                <a:latin typeface="Microsoft YaHei"/>
              </a:defRPr>
            </a:pPr>
            <a:r>
              <a:t>代码和项目结构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690872" y="2340864"/>
            <a:ext cx="292608" cy="0"/>
          </a:xfrm>
          <a:prstGeom prst="line">
            <a:avLst/>
          </a:prstGeom>
          <a:ln w="17780">
            <a:solidFill>
              <a:srgbClr val="3A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047488" y="1755648"/>
            <a:ext cx="1874519" cy="11704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5157216" y="1892807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157216" y="1892807"/>
            <a:ext cx="0" cy="274321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5202936" y="1956816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02936" y="198424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14416" y="1938528"/>
            <a:ext cx="11612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云端编译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66944" y="2377440"/>
            <a:ext cx="1463039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C8D8F2"/>
                </a:solidFill>
                <a:latin typeface="Microsoft YaHei"/>
              </a:defRPr>
            </a:pPr>
            <a:r>
              <a:t>日志反哺修正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931152" y="2340864"/>
            <a:ext cx="292608" cy="0"/>
          </a:xfrm>
          <a:prstGeom prst="line">
            <a:avLst/>
          </a:prstGeom>
          <a:ln w="1778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287768" y="1755648"/>
            <a:ext cx="1874519" cy="11704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7397496" y="1892807"/>
            <a:ext cx="274320" cy="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397496" y="1892807"/>
            <a:ext cx="0" cy="274321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7443216" y="1956816"/>
            <a:ext cx="329184" cy="329184"/>
          </a:xfrm>
          <a:prstGeom prst="roundRect">
            <a:avLst/>
          </a:prstGeom>
          <a:solidFill>
            <a:srgbClr val="FF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43216" y="198424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54696" y="1938528"/>
            <a:ext cx="11612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三种烧录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07224" y="2377440"/>
            <a:ext cx="1463039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C8D8F2"/>
                </a:solidFill>
                <a:latin typeface="Microsoft YaHei"/>
              </a:defRPr>
            </a:pPr>
            <a:r>
              <a:t>WiFi / 蓝牙 / USB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9171432" y="2340864"/>
            <a:ext cx="292608" cy="0"/>
          </a:xfrm>
          <a:prstGeom prst="line">
            <a:avLst/>
          </a:prstGeom>
          <a:ln w="1778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528048" y="1755648"/>
            <a:ext cx="1874519" cy="11704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9637776" y="1892807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637776" y="1892807"/>
            <a:ext cx="0" cy="274321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683496" y="1956816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83496" y="198424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94976" y="1938528"/>
            <a:ext cx="11612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设备运行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47504" y="2377440"/>
            <a:ext cx="1463039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C8D8F2"/>
                </a:solidFill>
                <a:latin typeface="Microsoft YaHei"/>
              </a:defRPr>
            </a:pPr>
            <a:r>
              <a:t>从代码到现实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22375" y="3337560"/>
            <a:ext cx="3346704" cy="1810512"/>
          </a:xfrm>
          <a:prstGeom prst="roundRect">
            <a:avLst/>
          </a:prstGeom>
          <a:solidFill>
            <a:srgbClr val="0E2445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image_ecea2d92143d7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364992"/>
            <a:ext cx="3291840" cy="175564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841247" y="4828031"/>
            <a:ext cx="31089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 i="0">
                <a:solidFill>
                  <a:srgbClr val="F6FAFF"/>
                </a:solidFill>
                <a:latin typeface="Microsoft YaHei"/>
              </a:rPr>
              <a:t>平台主界面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79976" y="3337560"/>
            <a:ext cx="3346704" cy="1810512"/>
          </a:xfrm>
          <a:prstGeom prst="roundRect">
            <a:avLst/>
          </a:prstGeom>
          <a:solidFill>
            <a:srgbClr val="0E2445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image_d398e6d60a5288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364992"/>
            <a:ext cx="3291840" cy="175564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498848" y="4828031"/>
            <a:ext cx="31089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 i="0">
                <a:solidFill>
                  <a:srgbClr val="F6FAFF"/>
                </a:solidFill>
                <a:latin typeface="Microsoft YaHei"/>
              </a:rPr>
              <a:t>编译输出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156448" y="3364992"/>
            <a:ext cx="2971800" cy="1755648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8266175" y="3502152"/>
            <a:ext cx="274321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266175" y="3502152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8311896" y="3566160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11896" y="3593592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↯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723376" y="3547872"/>
            <a:ext cx="22585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烧录模式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75904" y="3986784"/>
            <a:ext cx="2560320" cy="104241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C8D8F2"/>
                </a:solidFill>
                <a:latin typeface="Microsoft YaHei"/>
              </a:defRPr>
            </a:pPr>
            <a:r>
              <a:t>WiFi OTA</a:t>
            </a:r>
          </a:p>
          <a:p>
            <a:pPr>
              <a:spcAft>
                <a:spcPts val="300"/>
              </a:spcAft>
              <a:defRPr sz="1050" b="0">
                <a:solidFill>
                  <a:srgbClr val="C8D8F2"/>
                </a:solidFill>
                <a:latin typeface="Microsoft YaHei"/>
              </a:defRPr>
            </a:pPr>
            <a:r>
              <a:t>Bluetooth Provisioning</a:t>
            </a:r>
          </a:p>
          <a:p>
            <a:pPr>
              <a:spcAft>
                <a:spcPts val="300"/>
              </a:spcAft>
              <a:defRPr sz="1050" b="0">
                <a:solidFill>
                  <a:srgbClr val="C8D8F2"/>
                </a:solidFill>
                <a:latin typeface="Microsoft YaHei"/>
              </a:defRPr>
            </a:pPr>
            <a:r>
              <a:t>USB Serial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952" y="5486400"/>
            <a:ext cx="10424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50" b="0" i="0">
                <a:solidFill>
                  <a:srgbClr val="A2B3CC"/>
                </a:solidFill>
                <a:latin typeface="Microsoft YaHei"/>
              </a:rPr>
              <a:t>Source: VibeBoard 产品截图；VibeBoard 商业计划书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529028" y="5425066"/>
            <a:ext cx="40296" cy="4029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4737" y="1025732"/>
            <a:ext cx="21223" cy="2122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02739" y="5348339"/>
            <a:ext cx="36328" cy="3632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42313" y="1309349"/>
            <a:ext cx="36899" cy="3689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83791" y="1333236"/>
            <a:ext cx="32099" cy="3209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00044" y="1218081"/>
            <a:ext cx="31475" cy="3147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83016" y="360126"/>
            <a:ext cx="21119" cy="2111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13663" y="5764238"/>
            <a:ext cx="23597" cy="2359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26236" y="214311"/>
            <a:ext cx="38487" cy="3848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55858" y="5656056"/>
            <a:ext cx="39684" cy="3968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8156" y="5392758"/>
            <a:ext cx="21089" cy="2108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302" y="5604083"/>
            <a:ext cx="32662" cy="3266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74621" y="6176579"/>
            <a:ext cx="33604" cy="3360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32105" y="1290453"/>
            <a:ext cx="31859" cy="3185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879626" y="6649669"/>
            <a:ext cx="37530" cy="3753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12664" y="720887"/>
            <a:ext cx="25616" cy="2561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75364" y="5366330"/>
            <a:ext cx="27883" cy="2788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0672" y="6135518"/>
            <a:ext cx="38869" cy="3886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0969" y="5857114"/>
            <a:ext cx="27497" cy="2749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03603" y="457656"/>
            <a:ext cx="28862" cy="2886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27245" y="132293"/>
            <a:ext cx="29680" cy="2968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3238" y="6601670"/>
            <a:ext cx="24939" cy="2493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04921" y="1042625"/>
            <a:ext cx="18285" cy="1828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75944" y="6043725"/>
            <a:ext cx="36128" cy="36128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8693" y="1363183"/>
            <a:ext cx="35874" cy="3587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529845" y="103824"/>
            <a:ext cx="34145" cy="3414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06/15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06 / Hardware Context Proof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我们的 AI 知道通用 AI 不知道的硬件细节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核心不是“会写代码”，而是把板卡真实约束注入生成过程，让代码能在真机上跑起来。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4088" y="1709928"/>
            <a:ext cx="4992624" cy="3118104"/>
          </a:xfrm>
          <a:prstGeom prst="roundRect">
            <a:avLst/>
          </a:prstGeom>
          <a:solidFill>
            <a:srgbClr val="0E2445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_d398e6d60a5288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4937760" cy="30632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22960" y="4507992"/>
            <a:ext cx="4754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 i="0">
                <a:solidFill>
                  <a:srgbClr val="F6FAFF"/>
                </a:solidFill>
                <a:latin typeface="Microsoft YaHei"/>
              </a:rPr>
              <a:t>AI 推理证据截图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89320" y="1737360"/>
            <a:ext cx="5074920" cy="98755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099048" y="1874519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099048" y="1874519"/>
            <a:ext cx="0" cy="274321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144768" y="193852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44768" y="196596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I/O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6248" y="1920240"/>
            <a:ext cx="436168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PCA9557 初始化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08776" y="2359152"/>
            <a:ext cx="46634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屏幕、功放、摄像头电源并非直接接 GPIO，点亮前必须先初始化扩展芯片。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2971800"/>
            <a:ext cx="29260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 i="0">
                <a:solidFill>
                  <a:srgbClr val="19D9FF"/>
                </a:solidFill>
                <a:latin typeface="Microsoft YaHei"/>
              </a:rPr>
              <a:t>沉淀为结构化硬件上下文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0" y="3401568"/>
            <a:ext cx="2057400" cy="29260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08192" y="3465576"/>
            <a:ext cx="19110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ES7210 0x41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66759" y="3401568"/>
            <a:ext cx="2057400" cy="29260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39911" y="3465576"/>
            <a:ext cx="19110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QMI8658 0x6A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35040" y="3904488"/>
            <a:ext cx="2057400" cy="29260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08192" y="3968496"/>
            <a:ext cx="19110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GPIO35-37 禁用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66759" y="3904488"/>
            <a:ext cx="2057400" cy="29260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39911" y="3968496"/>
            <a:ext cx="1911095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LVGL 必须加锁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89320" y="4572000"/>
            <a:ext cx="5074920" cy="685800"/>
          </a:xfrm>
          <a:prstGeom prst="roundRect">
            <a:avLst/>
          </a:prstGeom>
          <a:solidFill>
            <a:srgbClr val="0C1F35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0" y="4736592"/>
            <a:ext cx="45262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300" b="1" i="0">
                <a:solidFill>
                  <a:srgbClr val="F6FAFF"/>
                </a:solidFill>
                <a:latin typeface="Microsoft YaHei"/>
              </a:rPr>
              <a:t>结论：别人可以问 AI，VibeBoard 让 AI “懂这块板”。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3276" y="1142802"/>
            <a:ext cx="38918" cy="38918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32186" y="634892"/>
            <a:ext cx="39850" cy="3985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10933" y="1341202"/>
            <a:ext cx="23609" cy="2360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7629" y="223367"/>
            <a:ext cx="25653" cy="2565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33764" y="5671689"/>
            <a:ext cx="25386" cy="2538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47759" y="5714598"/>
            <a:ext cx="23568" cy="23568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07370" y="631281"/>
            <a:ext cx="35335" cy="3533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79966" y="5349014"/>
            <a:ext cx="28164" cy="2816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47203" y="5628454"/>
            <a:ext cx="38359" cy="3835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90600" y="166911"/>
            <a:ext cx="34688" cy="3468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74332" y="6504505"/>
            <a:ext cx="37789" cy="3778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85693" y="284642"/>
            <a:ext cx="32717" cy="3271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87339" y="5752312"/>
            <a:ext cx="39990" cy="3999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193102" y="6353206"/>
            <a:ext cx="26287" cy="2628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6079" y="655512"/>
            <a:ext cx="18986" cy="1898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21876" y="1210725"/>
            <a:ext cx="32122" cy="3212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22639" y="706422"/>
            <a:ext cx="18982" cy="1898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0509" y="1308853"/>
            <a:ext cx="33496" cy="3349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168863" y="6540898"/>
            <a:ext cx="35517" cy="3551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87412" y="1123349"/>
            <a:ext cx="21394" cy="2139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866285" y="6225267"/>
            <a:ext cx="27500" cy="2750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25270" y="5706203"/>
            <a:ext cx="31866" cy="3186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2144" y="5387503"/>
            <a:ext cx="35773" cy="3577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98554" y="6633653"/>
            <a:ext cx="27894" cy="2789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83227" y="847774"/>
            <a:ext cx="31558" cy="31558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53552" y="118831"/>
            <a:ext cx="29459" cy="2945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07/15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07 / Technical Moat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真正的壁垒，是真实设备调试沉淀的工程判断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参数可查，判断不可复制；每新增一块板卡，知识库都会变厚。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1737360"/>
            <a:ext cx="3703320" cy="3520440"/>
          </a:xfrm>
          <a:prstGeom prst="roundRect">
            <a:avLst/>
          </a:prstGeom>
          <a:solidFill>
            <a:srgbClr val="0C1C32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1984248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当前验证板：立创实战派 ESP32-S3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2688" y="2441448"/>
            <a:ext cx="3236976" cy="1563624"/>
          </a:xfrm>
          <a:prstGeom prst="roundRect">
            <a:avLst/>
          </a:prstGeom>
          <a:solidFill>
            <a:srgbClr val="0E2445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tech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68880"/>
            <a:ext cx="3182112" cy="15087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51560" y="3685031"/>
            <a:ext cx="2999232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 i="0">
                <a:solidFill>
                  <a:srgbClr val="F6FAFF"/>
                </a:solidFill>
                <a:latin typeface="Microsoft YaHei"/>
              </a:rPr>
              <a:t>验证板卡 / 硬件上下文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4279392"/>
            <a:ext cx="3090672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19D9FF"/>
                </a:solidFill>
                <a:latin typeface="Microsoft YaHei"/>
              </a:rPr>
              <a:t>每新增一块板卡，都会把“真实坑点”变成平台上下文。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00600" y="1737360"/>
            <a:ext cx="6172200" cy="9418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4910328" y="1874519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910328" y="1874519"/>
            <a:ext cx="0" cy="274321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956048" y="1938528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56048" y="196596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67528" y="1920240"/>
            <a:ext cx="54589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不在公开语料中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0056" y="2359152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80" b="0">
                <a:solidFill>
                  <a:srgbClr val="C8D8F2"/>
                </a:solidFill>
                <a:latin typeface="Microsoft YaHei"/>
              </a:defRPr>
            </a:pPr>
            <a:r>
              <a:t>板卡非标准细节，大模型训练集通常没有覆盖。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00600" y="2907791"/>
            <a:ext cx="6172200" cy="9418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910328" y="3044951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910328" y="3044951"/>
            <a:ext cx="0" cy="274321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4956048" y="3108960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56048" y="3136391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67528" y="3090672"/>
            <a:ext cx="54589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来自真实调试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0056" y="3529584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80" b="0">
                <a:solidFill>
                  <a:srgbClr val="C8D8F2"/>
                </a:solidFill>
                <a:latin typeface="Microsoft YaHei"/>
              </a:defRPr>
            </a:pPr>
            <a:r>
              <a:t>示波器、逻辑分析仪、真机反复验证后沉淀。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00600" y="4078224"/>
            <a:ext cx="6172200" cy="94183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4910328" y="4215384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910328" y="4215384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956048" y="4279392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56048" y="4306824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67528" y="4261104"/>
            <a:ext cx="54589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越用越厚的资产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0056" y="4700016"/>
            <a:ext cx="57607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80" b="0">
                <a:solidFill>
                  <a:srgbClr val="C8D8F2"/>
                </a:solidFill>
                <a:latin typeface="Microsoft YaHei"/>
              </a:defRPr>
            </a:pPr>
            <a:r>
              <a:t>板卡越多、问题越多，AI 越接近资深工程师。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800600" y="5276088"/>
            <a:ext cx="1508760" cy="71323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10328" y="5385816"/>
            <a:ext cx="1289304" cy="32095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8C5CFF"/>
                </a:solidFill>
                <a:latin typeface="Microsoft YaHei"/>
              </a:rPr>
              <a:t>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10328" y="5689762"/>
            <a:ext cx="128930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外设技能包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583680" y="5276088"/>
            <a:ext cx="1508760" cy="71323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93408" y="5385816"/>
            <a:ext cx="1289304" cy="32095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19D9FF"/>
                </a:solidFill>
                <a:latin typeface="Microsoft YaHei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93408" y="5689762"/>
            <a:ext cx="128930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开发框架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66760" y="5276088"/>
            <a:ext cx="1508760" cy="71323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76488" y="5385816"/>
            <a:ext cx="1289304" cy="32095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5DFFB3"/>
                </a:solidFill>
                <a:latin typeface="Microsoft YaHei"/>
              </a:rPr>
              <a:t>109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76488" y="5689762"/>
            <a:ext cx="128930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月提交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918550" y="147483"/>
            <a:ext cx="26352" cy="2635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61036" y="206098"/>
            <a:ext cx="33770" cy="3377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63568" y="422177"/>
            <a:ext cx="25998" cy="2599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56350" y="1247926"/>
            <a:ext cx="30816" cy="3081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5052" y="6470751"/>
            <a:ext cx="34455" cy="3445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1628" y="5354896"/>
            <a:ext cx="33794" cy="3379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83918" y="455459"/>
            <a:ext cx="24957" cy="2495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12321" y="6244102"/>
            <a:ext cx="20785" cy="2078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0548" y="1337130"/>
            <a:ext cx="16785" cy="1678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97522" y="5864673"/>
            <a:ext cx="18437" cy="1843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91325" y="5436885"/>
            <a:ext cx="33943" cy="3394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06862" y="6300218"/>
            <a:ext cx="24493" cy="24493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38418" y="133840"/>
            <a:ext cx="20848" cy="2084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78780" y="1103035"/>
            <a:ext cx="30796" cy="3079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910494" y="6406595"/>
            <a:ext cx="22027" cy="2202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61206" y="6538404"/>
            <a:ext cx="36932" cy="3693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8474" y="5945837"/>
            <a:ext cx="29439" cy="2943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34357" y="6569166"/>
            <a:ext cx="21981" cy="2198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4936" y="5967409"/>
            <a:ext cx="35797" cy="3579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19785" y="5792939"/>
            <a:ext cx="37262" cy="3726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23953" y="840503"/>
            <a:ext cx="28555" cy="2855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60258" y="1200576"/>
            <a:ext cx="31878" cy="3187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08840" y="618613"/>
            <a:ext cx="35967" cy="3596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71306" y="562462"/>
            <a:ext cx="26036" cy="2603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589688" y="5491876"/>
            <a:ext cx="18608" cy="1860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759575" y="253175"/>
            <a:ext cx="24357" cy="2435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08/15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08 / Business Flywheel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硬件统一后，软件复刻成本趋近于零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增长不是卖单块板子，而是让作品、硬件、社区与数据进入同一个正循环。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08960" y="1920240"/>
            <a:ext cx="2514600" cy="950976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3218688" y="205740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218688" y="205740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264408" y="212140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64408" y="21488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75887" y="2103120"/>
            <a:ext cx="18013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深度创客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28415" y="2542032"/>
            <a:ext cx="210312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40" b="0">
                <a:solidFill>
                  <a:srgbClr val="C8D8F2"/>
                </a:solidFill>
                <a:latin typeface="Microsoft YaHei"/>
              </a:defRPr>
            </a:pPr>
            <a:r>
              <a:t>做出种子爆款作品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623560" y="2395728"/>
            <a:ext cx="777240" cy="0"/>
          </a:xfrm>
          <a:prstGeom prst="line">
            <a:avLst/>
          </a:prstGeom>
          <a:ln w="1778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400800" y="1920240"/>
            <a:ext cx="2514600" cy="950976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6510528" y="2057400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10528" y="2057400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556248" y="2121408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56248" y="21488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67728" y="2103120"/>
            <a:ext cx="18013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项目模板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20256" y="2542032"/>
            <a:ext cx="210312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40" b="0">
                <a:solidFill>
                  <a:srgbClr val="C8D8F2"/>
                </a:solidFill>
                <a:latin typeface="Microsoft YaHei"/>
              </a:defRPr>
            </a:pPr>
            <a:r>
              <a:t>沉淀为可复刻模板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8001000" y="2395728"/>
            <a:ext cx="914400" cy="2057399"/>
          </a:xfrm>
          <a:prstGeom prst="line">
            <a:avLst/>
          </a:prstGeom>
          <a:ln w="1778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001000" y="3977639"/>
            <a:ext cx="2514600" cy="950976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8110727" y="4114800"/>
            <a:ext cx="274321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110727" y="4114800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8156448" y="4178807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56448" y="42062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9%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67928" y="4160520"/>
            <a:ext cx="18013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轻改造用户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0456" y="4599431"/>
            <a:ext cx="210312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40" b="0">
                <a:solidFill>
                  <a:srgbClr val="C8D8F2"/>
                </a:solidFill>
                <a:latin typeface="Microsoft YaHei"/>
              </a:defRPr>
            </a:pPr>
            <a:r>
              <a:t>自然语言换 UI / 功能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4846320" y="4453127"/>
            <a:ext cx="5669280" cy="1005841"/>
          </a:xfrm>
          <a:prstGeom prst="line">
            <a:avLst/>
          </a:prstGeom>
          <a:ln w="1778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4846320" y="4983480"/>
            <a:ext cx="2514600" cy="950976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4956048" y="5120640"/>
            <a:ext cx="274320" cy="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956048" y="5120640"/>
            <a:ext cx="0" cy="27432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001768" y="5184648"/>
            <a:ext cx="329184" cy="329184"/>
          </a:xfrm>
          <a:prstGeom prst="roundRect">
            <a:avLst/>
          </a:prstGeom>
          <a:solidFill>
            <a:srgbClr val="FF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01768" y="521208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社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13248" y="5166360"/>
            <a:ext cx="18013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社交传播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65776" y="5605272"/>
            <a:ext cx="210312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40" b="0">
                <a:solidFill>
                  <a:srgbClr val="C8D8F2"/>
                </a:solidFill>
                <a:latin typeface="Microsoft YaHei"/>
              </a:defRPr>
            </a:pPr>
            <a:r>
              <a:t>B站 / 小红书 / 抖音</a:t>
            </a:r>
          </a:p>
        </p:txBody>
      </p:sp>
      <p:cxnSp>
        <p:nvCxnSpPr>
          <p:cNvPr id="86" name="Connector 85"/>
          <p:cNvCxnSpPr/>
          <p:nvPr/>
        </p:nvCxnSpPr>
        <p:spPr>
          <a:xfrm flipH="1" flipV="1">
            <a:off x="1965960" y="4453127"/>
            <a:ext cx="5394960" cy="1005841"/>
          </a:xfrm>
          <a:prstGeom prst="line">
            <a:avLst/>
          </a:prstGeom>
          <a:ln w="1778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1965960" y="3977639"/>
            <a:ext cx="2514600" cy="950976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2075688" y="4114800"/>
            <a:ext cx="274320" cy="0"/>
          </a:xfrm>
          <a:prstGeom prst="line">
            <a:avLst/>
          </a:prstGeom>
          <a:ln w="2159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75688" y="4114800"/>
            <a:ext cx="0" cy="274320"/>
          </a:xfrm>
          <a:prstGeom prst="line">
            <a:avLst/>
          </a:prstGeom>
          <a:ln w="2159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2121408" y="4178807"/>
            <a:ext cx="329184" cy="329184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21408" y="42062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90%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32888" y="4160520"/>
            <a:ext cx="18013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普通用户购买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85415" y="4599431"/>
            <a:ext cx="210312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40" b="0">
                <a:solidFill>
                  <a:srgbClr val="C8D8F2"/>
                </a:solidFill>
                <a:latin typeface="Microsoft YaHei"/>
              </a:defRPr>
            </a:pPr>
            <a:r>
              <a:t>扫码复刻，几分钟运行</a:t>
            </a:r>
          </a:p>
        </p:txBody>
      </p:sp>
      <p:cxnSp>
        <p:nvCxnSpPr>
          <p:cNvPr id="94" name="Connector 93"/>
          <p:cNvCxnSpPr/>
          <p:nvPr/>
        </p:nvCxnSpPr>
        <p:spPr>
          <a:xfrm flipH="1" flipV="1">
            <a:off x="3108960" y="2395728"/>
            <a:ext cx="1371600" cy="2057399"/>
          </a:xfrm>
          <a:prstGeom prst="line">
            <a:avLst/>
          </a:prstGeom>
          <a:ln w="1778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4800600" y="3081528"/>
            <a:ext cx="2377440" cy="822960"/>
          </a:xfrm>
          <a:prstGeom prst="roundRect">
            <a:avLst/>
          </a:prstGeom>
          <a:solidFill>
            <a:srgbClr val="101F38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01768" y="3273552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 i="0">
                <a:solidFill>
                  <a:srgbClr val="19D9FF"/>
                </a:solidFill>
                <a:latin typeface="Microsoft YaHei"/>
              </a:rPr>
              <a:t>一键复刻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64608" y="3639312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0" i="0">
                <a:solidFill>
                  <a:srgbClr val="F6FAFF"/>
                </a:solidFill>
                <a:latin typeface="Microsoft YaHei"/>
              </a:rPr>
              <a:t>统一硬件 × AI 改造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6384" y="5806440"/>
            <a:ext cx="10607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250" b="1" i="0">
                <a:solidFill>
                  <a:srgbClr val="F6FAFF"/>
                </a:solidFill>
                <a:latin typeface="Microsoft YaHei"/>
              </a:rPr>
              <a:t>飞轮核心：创作者供给项目 → 普通用户低门槛复刻 → 使用反馈反哺 AI 与硬件上下文。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952041" y="99677"/>
            <a:ext cx="24705" cy="2470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67658" y="632418"/>
            <a:ext cx="19198" cy="19198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044" y="1267849"/>
            <a:ext cx="34376" cy="3437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708923" y="1127743"/>
            <a:ext cx="38169" cy="3816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21406" y="1251790"/>
            <a:ext cx="19452" cy="1945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10637" y="261936"/>
            <a:ext cx="30605" cy="3060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8147" y="988637"/>
            <a:ext cx="17796" cy="1779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93415" y="5389598"/>
            <a:ext cx="39936" cy="3993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75865" y="759758"/>
            <a:ext cx="37873" cy="3787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7271" y="5766490"/>
            <a:ext cx="16474" cy="1647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17944" y="897313"/>
            <a:ext cx="17086" cy="1708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53029" y="176289"/>
            <a:ext cx="40261" cy="4026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85228" y="6225448"/>
            <a:ext cx="17184" cy="1718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08984" y="5871088"/>
            <a:ext cx="23723" cy="2372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8728" y="1048358"/>
            <a:ext cx="18078" cy="1807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42989" y="5613180"/>
            <a:ext cx="25072" cy="2507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6935" y="299113"/>
            <a:ext cx="21468" cy="2146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00224" y="708556"/>
            <a:ext cx="39698" cy="39698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65271" y="766073"/>
            <a:ext cx="38121" cy="3812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926106" y="6235506"/>
            <a:ext cx="17951" cy="1795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34268" y="6416339"/>
            <a:ext cx="38082" cy="3808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109230" y="844886"/>
            <a:ext cx="31472" cy="3147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61967" y="699035"/>
            <a:ext cx="24701" cy="2470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779080" y="1354080"/>
            <a:ext cx="38498" cy="38498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396" y="233033"/>
            <a:ext cx="25653" cy="2565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585580" y="195306"/>
            <a:ext cx="16841" cy="1684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09/15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09 / Market Segmentation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先服务 1% 创作者，最终触达 90% 拥有用户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VibeBoard 的目标不是只卖给工程师，而是让内容扩散把硬件带到普通用户手里。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" y="1874519"/>
            <a:ext cx="2926080" cy="822960"/>
          </a:xfrm>
          <a:prstGeom prst="roundRect">
            <a:avLst/>
          </a:prstGeom>
          <a:solidFill>
            <a:srgbClr val="102948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2039112"/>
            <a:ext cx="685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 i="0">
                <a:solidFill>
                  <a:srgbClr val="19D9FF"/>
                </a:solidFill>
                <a:latin typeface="Microsoft YaHei"/>
              </a:rPr>
              <a:t>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2029968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深度创造者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34440" y="2907792"/>
            <a:ext cx="4206240" cy="896112"/>
          </a:xfrm>
          <a:prstGeom prst="roundRect">
            <a:avLst/>
          </a:prstGeom>
          <a:solidFill>
            <a:srgbClr val="152452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81328" y="3081528"/>
            <a:ext cx="685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 i="0">
                <a:solidFill>
                  <a:srgbClr val="8C5CFF"/>
                </a:solidFill>
                <a:latin typeface="Microsoft YaHei"/>
              </a:rPr>
              <a:t>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1720" y="303580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轻改造用户 / 复刻用户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3401568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819" b="0" i="0">
                <a:solidFill>
                  <a:srgbClr val="C8D8F2"/>
                </a:solidFill>
                <a:latin typeface="Microsoft YaHei"/>
              </a:rPr>
              <a:t>愿意动手，但需要路径清楚、固件可用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645920" y="4069080"/>
            <a:ext cx="5897880" cy="932688"/>
          </a:xfrm>
          <a:prstGeom prst="roundRect">
            <a:avLst/>
          </a:prstGeom>
          <a:solidFill>
            <a:srgbClr val="1B273C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01952" y="4251960"/>
            <a:ext cx="868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400" b="1" i="0">
                <a:solidFill>
                  <a:srgbClr val="5DFFB3"/>
                </a:solidFill>
                <a:latin typeface="Microsoft YaHei"/>
              </a:rPr>
              <a:t>90%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71800" y="4224528"/>
            <a:ext cx="3931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20" b="1" i="0">
                <a:solidFill>
                  <a:srgbClr val="F6FAFF"/>
                </a:solidFill>
                <a:latin typeface="Microsoft YaHei"/>
              </a:rPr>
              <a:t>围观 / 拥有用户：只想低成本拥有好玩的成品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178308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 i="0">
                <a:solidFill>
                  <a:srgbClr val="19D9FF"/>
                </a:solidFill>
                <a:latin typeface="Microsoft YaHei"/>
              </a:rPr>
              <a:t>切入顺序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26679" y="2148840"/>
            <a:ext cx="3154680" cy="658368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7836407" y="228600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836407" y="228600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882127" y="235000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82127" y="23774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93607" y="2331720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1" i="0">
                <a:solidFill>
                  <a:srgbClr val="F6FAFF"/>
                </a:solidFill>
                <a:latin typeface="Microsoft YaHei"/>
              </a:rPr>
              <a:t>团队打磨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46136" y="2770632"/>
            <a:ext cx="2743200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40" b="0">
                <a:solidFill>
                  <a:srgbClr val="C8D8F2"/>
                </a:solidFill>
                <a:latin typeface="Microsoft YaHei"/>
              </a:defRPr>
            </a:pPr>
            <a:r>
              <a:t>5–8 个种子爆款 demo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26679" y="2990088"/>
            <a:ext cx="3154680" cy="658368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7836407" y="3127248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836407" y="3127248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882127" y="3191256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82127" y="321868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93607" y="3172968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1" i="0">
                <a:solidFill>
                  <a:srgbClr val="F6FAFF"/>
                </a:solidFill>
                <a:latin typeface="Microsoft YaHei"/>
              </a:rPr>
              <a:t>KOL 扩散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46136" y="3611880"/>
            <a:ext cx="2743200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40" b="0">
                <a:solidFill>
                  <a:srgbClr val="C8D8F2"/>
                </a:solidFill>
                <a:latin typeface="Microsoft YaHei"/>
              </a:defRPr>
            </a:pPr>
            <a:r>
              <a:t>B站 / 小红书中腰部创客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726679" y="3831336"/>
            <a:ext cx="3154680" cy="658368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7836407" y="3968496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36407" y="3968496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882127" y="4032504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82127" y="4059936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3607" y="4014216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1" i="0">
                <a:solidFill>
                  <a:srgbClr val="F6FAFF"/>
                </a:solidFill>
                <a:latin typeface="Microsoft YaHei"/>
              </a:rPr>
              <a:t>扫码复刻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46136" y="4453128"/>
            <a:ext cx="2743200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40" b="0">
                <a:solidFill>
                  <a:srgbClr val="C8D8F2"/>
                </a:solidFill>
                <a:latin typeface="Microsoft YaHei"/>
              </a:defRPr>
            </a:pPr>
            <a:r>
              <a:t>从内容转化硬件购买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26679" y="4672584"/>
            <a:ext cx="3154680" cy="658368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7836407" y="4809744"/>
            <a:ext cx="274320" cy="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836407" y="4809744"/>
            <a:ext cx="0" cy="27432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7882127" y="4873752"/>
            <a:ext cx="329184" cy="329184"/>
          </a:xfrm>
          <a:prstGeom prst="roundRect">
            <a:avLst/>
          </a:prstGeom>
          <a:solidFill>
            <a:srgbClr val="FF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82127" y="4901184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93607" y="4855464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1" i="0">
                <a:solidFill>
                  <a:srgbClr val="F6FAFF"/>
                </a:solidFill>
                <a:latin typeface="Microsoft YaHei"/>
              </a:rPr>
              <a:t>市场沉淀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46136" y="5294376"/>
            <a:ext cx="2743200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40" b="0">
                <a:solidFill>
                  <a:srgbClr val="C8D8F2"/>
                </a:solidFill>
                <a:latin typeface="Microsoft YaHei"/>
              </a:defRPr>
            </a:pPr>
            <a:r>
              <a:t>作品、模板、反馈形成资产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88670" y="5930866"/>
            <a:ext cx="32592" cy="3259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7790" y="1367192"/>
            <a:ext cx="31351" cy="3135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25179" y="5742559"/>
            <a:ext cx="35416" cy="3541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69174" y="6542843"/>
            <a:ext cx="35520" cy="3552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61232" y="839752"/>
            <a:ext cx="37251" cy="3725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15890" y="183656"/>
            <a:ext cx="20154" cy="2015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44547" y="656695"/>
            <a:ext cx="39856" cy="3985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65685" y="5386887"/>
            <a:ext cx="23929" cy="2392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41394" y="377767"/>
            <a:ext cx="24647" cy="2464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76865" y="1269980"/>
            <a:ext cx="34638" cy="3463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8218" y="5798949"/>
            <a:ext cx="29823" cy="29823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6147" y="1331503"/>
            <a:ext cx="37988" cy="3798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88999" y="6664422"/>
            <a:ext cx="19898" cy="1989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82822" y="678068"/>
            <a:ext cx="34720" cy="34720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53688" y="1153234"/>
            <a:ext cx="40218" cy="4021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98834" y="6620078"/>
            <a:ext cx="20474" cy="2047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681539" y="6077429"/>
            <a:ext cx="21587" cy="2158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12124" y="6269089"/>
            <a:ext cx="32854" cy="3285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92718" y="5832230"/>
            <a:ext cx="38060" cy="3806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6188" y="5739099"/>
            <a:ext cx="35207" cy="3520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66956" y="6147692"/>
            <a:ext cx="34396" cy="3439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02290" y="6384116"/>
            <a:ext cx="38947" cy="3894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51648" y="5235953"/>
            <a:ext cx="32542" cy="3254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63374" y="485374"/>
            <a:ext cx="21887" cy="2188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61213" y="1262677"/>
            <a:ext cx="26149" cy="2614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751687" y="1205492"/>
            <a:ext cx="17361" cy="1736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10/15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10 / Competitive Positioning &amp; Risks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我们补的是硬件、AI 与社区之间的空缺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硬件厂商缺 AI，开发工具缺硬件，通用 AI 缺板卡上下文；VibeBoard 切在三者交叉点。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1810512"/>
            <a:ext cx="4983480" cy="4023360"/>
          </a:xfrm>
          <a:prstGeom prst="rect">
            <a:avLst/>
          </a:prstGeom>
          <a:solidFill>
            <a:srgbClr val="0B1B33"/>
          </a:solidFill>
          <a:ln w="12700">
            <a:solidFill>
              <a:srgbClr val="2B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34440" y="5440680"/>
            <a:ext cx="4434840" cy="0"/>
          </a:xfrm>
          <a:prstGeom prst="line">
            <a:avLst/>
          </a:prstGeom>
          <a:ln w="1651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234440" y="2029968"/>
            <a:ext cx="0" cy="3410712"/>
          </a:xfrm>
          <a:prstGeom prst="line">
            <a:avLst/>
          </a:prstGeom>
          <a:ln w="1651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14400" y="1481328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 i="0">
                <a:solidFill>
                  <a:srgbClr val="C8D8F2"/>
                </a:solidFill>
                <a:latin typeface="Microsoft YaHei"/>
              </a:rPr>
              <a:t>硬件深度 / 供应链能力高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5632704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0" i="0">
                <a:solidFill>
                  <a:srgbClr val="C8D8F2"/>
                </a:solidFill>
                <a:latin typeface="Microsoft YaHei"/>
              </a:rPr>
              <a:t>AI 与社区复刻能力高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828800" y="4663440"/>
            <a:ext cx="1325880" cy="438912"/>
          </a:xfrm>
          <a:prstGeom prst="roundRect">
            <a:avLst/>
          </a:prstGeom>
          <a:solidFill>
            <a:srgbClr val="19D9FF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01952" y="4791455"/>
            <a:ext cx="11795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PlatformIO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37360" y="5166359"/>
            <a:ext cx="15544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730" b="0" i="0">
                <a:solidFill>
                  <a:srgbClr val="C8D8F2"/>
                </a:solidFill>
                <a:latin typeface="Microsoft YaHei"/>
              </a:rPr>
              <a:t>开发工具成熟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60520" y="4709160"/>
            <a:ext cx="1325880" cy="438912"/>
          </a:xfrm>
          <a:prstGeom prst="roundRect">
            <a:avLst/>
          </a:prstGeom>
          <a:solidFill>
            <a:srgbClr val="8C5CFF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33672" y="4837176"/>
            <a:ext cx="11795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ChatGPT / Claude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80" y="5212080"/>
            <a:ext cx="15544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730" b="0" i="0">
                <a:solidFill>
                  <a:srgbClr val="C8D8F2"/>
                </a:solidFill>
                <a:latin typeface="Microsoft YaHei"/>
              </a:rPr>
              <a:t>通用能力，不懂板卡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828800" y="2697480"/>
            <a:ext cx="1325880" cy="438912"/>
          </a:xfrm>
          <a:prstGeom prst="roundRect">
            <a:avLst/>
          </a:prstGeom>
          <a:solidFill>
            <a:srgbClr val="5DFFB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01952" y="2825496"/>
            <a:ext cx="11795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M5 / 立创 / Seeed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37360" y="3200400"/>
            <a:ext cx="15544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730" b="0" i="0">
                <a:solidFill>
                  <a:srgbClr val="C8D8F2"/>
                </a:solidFill>
                <a:latin typeface="Microsoft YaHei"/>
              </a:rPr>
              <a:t>硬件强，AI弱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069080" y="2788920"/>
            <a:ext cx="1325880" cy="438912"/>
          </a:xfrm>
          <a:prstGeom prst="roundRect">
            <a:avLst/>
          </a:prstGeom>
          <a:solidFill>
            <a:srgbClr val="FF4FD8"/>
          </a:solidFill>
          <a:ln w="12700"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42232" y="2916936"/>
            <a:ext cx="1179576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850" b="1" i="0">
                <a:solidFill>
                  <a:srgbClr val="F6FAFF"/>
                </a:solidFill>
                <a:latin typeface="Microsoft YaHei"/>
              </a:rPr>
              <a:t>VibeBoard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77640" y="3291839"/>
            <a:ext cx="15544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730" b="0" i="0">
                <a:solidFill>
                  <a:srgbClr val="C8D8F2"/>
                </a:solidFill>
                <a:latin typeface="Microsoft YaHei"/>
              </a:rPr>
              <a:t>理想交叉区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29400" y="1828800"/>
            <a:ext cx="4389120" cy="9144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739128" y="196596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739128" y="196596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6784848" y="202996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84848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位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96328" y="2011680"/>
            <a:ext cx="36758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竞争位置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48856" y="2450592"/>
            <a:ext cx="3977639" cy="2011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补齐“硬件 × AI × 社区复刻”的三角空缺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29400" y="2999232"/>
            <a:ext cx="4389120" cy="9144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6739128" y="3136391"/>
            <a:ext cx="274320" cy="0"/>
          </a:xfrm>
          <a:prstGeom prst="line">
            <a:avLst/>
          </a:prstGeom>
          <a:ln w="2159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739128" y="3136391"/>
            <a:ext cx="0" cy="274321"/>
          </a:xfrm>
          <a:prstGeom prst="line">
            <a:avLst/>
          </a:prstGeom>
          <a:ln w="2159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6784848" y="3200400"/>
            <a:ext cx="329184" cy="329184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4848" y="3227832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6328" y="3182112"/>
            <a:ext cx="36758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主要风险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48856" y="3621024"/>
            <a:ext cx="3977639" cy="2011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硬件出货、供应链、社区冷启动、KOL 内容转化节奏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629400" y="4169663"/>
            <a:ext cx="4389120" cy="9144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6739128" y="4306824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739128" y="4306824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6784848" y="4370831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84848" y="4398264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96328" y="4352544"/>
            <a:ext cx="3675887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应对策略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48856" y="4791455"/>
            <a:ext cx="3977639" cy="2011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先小批量验证 + 种子 demo + 主流板卡兼容，不急于大规模铺货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001602" y="669857"/>
            <a:ext cx="21018" cy="21018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70735" y="272960"/>
            <a:ext cx="31159" cy="3115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47128" y="1156151"/>
            <a:ext cx="21155" cy="21155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9205" y="6148852"/>
            <a:ext cx="16572" cy="1657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48816" y="997549"/>
            <a:ext cx="29121" cy="2912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92634" y="586239"/>
            <a:ext cx="21730" cy="2173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23571" y="6351072"/>
            <a:ext cx="24776" cy="2477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0530" y="406855"/>
            <a:ext cx="27938" cy="2793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67919" y="5825430"/>
            <a:ext cx="19335" cy="1933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46227" y="480794"/>
            <a:ext cx="21083" cy="2108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865678" y="6105021"/>
            <a:ext cx="25993" cy="2599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56130" y="5875141"/>
            <a:ext cx="37009" cy="3700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63987" y="410838"/>
            <a:ext cx="33419" cy="3341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50370" y="5585416"/>
            <a:ext cx="22803" cy="2280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4906" y="253252"/>
            <a:ext cx="23377" cy="2337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24232" y="317073"/>
            <a:ext cx="18735" cy="18735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68159" y="1303565"/>
            <a:ext cx="28181" cy="2818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18286" y="177557"/>
            <a:ext cx="41132" cy="4113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41417" y="5401608"/>
            <a:ext cx="25145" cy="2514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1261" y="6050120"/>
            <a:ext cx="25820" cy="2582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7875" y="6277476"/>
            <a:ext cx="39524" cy="3952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56762" y="1051829"/>
            <a:ext cx="28333" cy="2833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111703" y="1238999"/>
            <a:ext cx="33201" cy="3320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697542" y="5565380"/>
            <a:ext cx="32899" cy="3289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8862" y="6065189"/>
            <a:ext cx="21641" cy="2164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64954" y="1307592"/>
            <a:ext cx="19244" cy="1924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11/15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11 / Roadmap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18 个月内完成硬件出货与复刻飞轮验证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路线图围绕四个可验收节点：闭环、硬件、市场、一键复刻与收入模式。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60120" y="3429000"/>
            <a:ext cx="10012680" cy="0"/>
          </a:xfrm>
          <a:prstGeom prst="line">
            <a:avLst/>
          </a:prstGeom>
          <a:ln w="2540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581912" y="3264408"/>
            <a:ext cx="329184" cy="329184"/>
          </a:xfrm>
          <a:prstGeom prst="roundRect">
            <a:avLst/>
          </a:prstGeom>
          <a:solidFill>
            <a:srgbClr val="19D9FF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13232" y="1664208"/>
            <a:ext cx="2423160" cy="132588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822960" y="1801368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2960" y="1801368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68680" y="1865376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189280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Done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1847088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当前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" y="2286000"/>
            <a:ext cx="2011679" cy="61264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已完成可现场演示闭环</a:t>
            </a:r>
          </a:p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平台闭环跑通；3 款板卡、3 套框架、25 个技能包；一个月 109 次提交。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3232" y="3886200"/>
            <a:ext cx="2423160" cy="1234440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409651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已完成可现场演示闭环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4498848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800" b="0" i="0">
                <a:solidFill>
                  <a:srgbClr val="C8D8F2"/>
                </a:solidFill>
                <a:latin typeface="Microsoft YaHei"/>
              </a:rPr>
              <a:t>平台闭环跑通；3 款板卡、3 套框架、25 个技能包；一个月 109 次提交。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70832" y="3264408"/>
            <a:ext cx="329184" cy="329184"/>
          </a:xfrm>
          <a:prstGeom prst="roundRect">
            <a:avLst/>
          </a:prstGeom>
          <a:solidFill>
            <a:srgbClr val="8C5CFF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02152" y="1664208"/>
            <a:ext cx="2423160" cy="132588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3611880" y="1801368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611880" y="1801368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3657600" y="1865376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0" y="189280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Build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9080" y="1847088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0–6 个月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21608" y="2286000"/>
            <a:ext cx="2011679" cy="61264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硬件改款 + 种子爆款 + 市场雏形</a:t>
            </a:r>
          </a:p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自研 layout / 外壳 / 品牌；5–8 个 demo；支持 5–8 款主流板。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502152" y="3886200"/>
            <a:ext cx="2423160" cy="1234440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03320" y="409651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硬件改款 + 种子爆款 + 市场雏形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03320" y="4498848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800" b="0" i="0">
                <a:solidFill>
                  <a:srgbClr val="C8D8F2"/>
                </a:solidFill>
                <a:latin typeface="Microsoft YaHei"/>
              </a:rPr>
              <a:t>自研 layout / 外壳 / 品牌；5–8 个 demo；支持 5–8 款主流板。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59752" y="3264408"/>
            <a:ext cx="329184" cy="329184"/>
          </a:xfrm>
          <a:prstGeom prst="roundRect">
            <a:avLst/>
          </a:prstGeom>
          <a:solidFill>
            <a:srgbClr val="5DFFB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291072" y="1664208"/>
            <a:ext cx="2423160" cy="132588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6400800" y="1801368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400800" y="1801368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6446520" y="1865376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46520" y="189280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Ship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0" y="1847088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6–12 个月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10528" y="2286000"/>
            <a:ext cx="2011679" cy="61264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小批量出货 + 社区复刻</a:t>
            </a:r>
          </a:p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小批量试产；KOL 扩散；项目市场可上传、可复刻。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91072" y="3886200"/>
            <a:ext cx="2423160" cy="1234440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409651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小批量出货 + 社区复刻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4498848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800" b="0" i="0">
                <a:solidFill>
                  <a:srgbClr val="C8D8F2"/>
                </a:solidFill>
                <a:latin typeface="Microsoft YaHei"/>
              </a:rPr>
              <a:t>小批量试产；KOL 扩散；项目市场可上传、可复刻。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948671" y="3264408"/>
            <a:ext cx="329184" cy="329184"/>
          </a:xfrm>
          <a:prstGeom prst="roundRect">
            <a:avLst/>
          </a:prstGeom>
          <a:solidFill>
            <a:srgbClr val="FF4FD8"/>
          </a:solidFill>
          <a:ln w="12700"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079991" y="1664208"/>
            <a:ext cx="2423160" cy="132588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9189719" y="1801368"/>
            <a:ext cx="274320" cy="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89719" y="1801368"/>
            <a:ext cx="0" cy="27432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9235439" y="1865376"/>
            <a:ext cx="329184" cy="329184"/>
          </a:xfrm>
          <a:prstGeom prst="roundRect">
            <a:avLst/>
          </a:prstGeom>
          <a:solidFill>
            <a:srgbClr val="FF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35439" y="1892808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Scale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46919" y="1847088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00" b="1" i="0">
                <a:solidFill>
                  <a:srgbClr val="F6FAFF"/>
                </a:solidFill>
                <a:latin typeface="Microsoft YaHei"/>
              </a:rPr>
              <a:t>12–18 个月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99447" y="2286000"/>
            <a:ext cx="2011679" cy="61264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收入模式验证</a:t>
            </a:r>
          </a:p>
          <a:p>
            <a:pPr>
              <a:spcAft>
                <a:spcPts val="300"/>
              </a:spcAft>
              <a:defRPr sz="770" b="0">
                <a:solidFill>
                  <a:srgbClr val="C8D8F2"/>
                </a:solidFill>
                <a:latin typeface="Microsoft YaHei"/>
              </a:defRPr>
            </a:pPr>
            <a:r>
              <a:t>硬件销售 + 项目分发 + 增值服务；验证内容驱动硬件增长。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079991" y="3886200"/>
            <a:ext cx="2423160" cy="1234440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81159" y="409651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50" b="1" i="0">
                <a:solidFill>
                  <a:srgbClr val="F6FAFF"/>
                </a:solidFill>
                <a:latin typeface="Microsoft YaHei"/>
              </a:rPr>
              <a:t>收入模式验证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81159" y="4498848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800" b="0" i="0">
                <a:solidFill>
                  <a:srgbClr val="C8D8F2"/>
                </a:solidFill>
                <a:latin typeface="Microsoft YaHei"/>
              </a:rPr>
              <a:t>硬件销售 + 项目分发 + 增值服务；验证内容驱动硬件增长。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02729" y="6670178"/>
            <a:ext cx="23225" cy="2322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8871" y="562097"/>
            <a:ext cx="17911" cy="1791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7521" y="115256"/>
            <a:ext cx="18705" cy="1870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26876" y="1220578"/>
            <a:ext cx="30165" cy="3016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18092" y="871436"/>
            <a:ext cx="40344" cy="4034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65121" y="5581318"/>
            <a:ext cx="25429" cy="2542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81384" y="5249740"/>
            <a:ext cx="17532" cy="1753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60425" y="5846282"/>
            <a:ext cx="24956" cy="2495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16432" y="6614766"/>
            <a:ext cx="22382" cy="2238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91101" y="6100018"/>
            <a:ext cx="39060" cy="39060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81790" y="240013"/>
            <a:ext cx="17049" cy="1704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7229" y="5729611"/>
            <a:ext cx="38538" cy="38538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35446" y="911038"/>
            <a:ext cx="34580" cy="3458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46778" y="1226221"/>
            <a:ext cx="21403" cy="21403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132294" y="1064917"/>
            <a:ext cx="38702" cy="3870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46991" y="812588"/>
            <a:ext cx="38773" cy="3877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51635" y="1105851"/>
            <a:ext cx="24164" cy="2416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153323" y="988344"/>
            <a:ext cx="18230" cy="18230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55293" y="6230021"/>
            <a:ext cx="25485" cy="25485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64046" y="5880623"/>
            <a:ext cx="18850" cy="1885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0387" y="645050"/>
            <a:ext cx="28829" cy="2882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35833" y="411321"/>
            <a:ext cx="36992" cy="3699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56360" y="654603"/>
            <a:ext cx="30133" cy="3013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348583" y="1238076"/>
            <a:ext cx="19814" cy="1981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870510" y="6581681"/>
            <a:ext cx="26065" cy="2606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61363" y="6359593"/>
            <a:ext cx="26923" cy="26923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12/15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12 / Financing Ask &amp; Use of Funds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天使轮 300–500 万元，支撑 18 个月关键验证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资金使用围绕硬件出货、平台产品化、团队补强与社区冷启动，不做过度铺开。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1828800"/>
            <a:ext cx="1828800" cy="93268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1938528"/>
            <a:ext cx="1609344" cy="41970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19D9FF"/>
                </a:solidFill>
                <a:latin typeface="Microsoft YaHei"/>
              </a:rPr>
              <a:t>300–500万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2369759"/>
            <a:ext cx="160934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人民币天使轮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88920" y="1828800"/>
            <a:ext cx="1691640" cy="93268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98648" y="1938528"/>
            <a:ext cx="1472184" cy="41970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8C5CFF"/>
                </a:solidFill>
                <a:latin typeface="Microsoft YaHei"/>
              </a:rPr>
              <a:t>8%–12%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98648" y="2369759"/>
            <a:ext cx="147218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释放股权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27448" y="1828800"/>
            <a:ext cx="1463040" cy="932688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37176" y="1938528"/>
            <a:ext cx="1243584" cy="41970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5DFFB3"/>
                </a:solidFill>
                <a:latin typeface="Microsoft YaHei"/>
              </a:rPr>
              <a:t>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37176" y="2369759"/>
            <a:ext cx="124358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个月支撑周期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37960" y="1810512"/>
            <a:ext cx="4343400" cy="987552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6647688" y="1947672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647688" y="1947672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693408" y="2011680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93408" y="2039112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沪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04888" y="1993392"/>
            <a:ext cx="363016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交割安排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57416" y="2432304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公司注册与融资交割同步；注册地设于上海浦东。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3337560"/>
            <a:ext cx="14630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 i="0">
                <a:solidFill>
                  <a:srgbClr val="19D9FF"/>
                </a:solidFill>
                <a:latin typeface="Microsoft YaHei"/>
              </a:rPr>
              <a:t>预算分配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3703320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950" b="1" i="0">
                <a:solidFill>
                  <a:srgbClr val="F6FAFF"/>
                </a:solidFill>
                <a:latin typeface="Microsoft YaHei"/>
              </a:rPr>
              <a:t>硬件研发与小批量生产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11880" y="3685032"/>
            <a:ext cx="5120640" cy="2286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11880" y="3685032"/>
            <a:ext cx="4480560" cy="228600"/>
          </a:xfrm>
          <a:prstGeom prst="roundRect">
            <a:avLst/>
          </a:prstGeom>
          <a:solidFill>
            <a:srgbClr val="19D9FF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15400" y="3694176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 i="0">
                <a:solidFill>
                  <a:srgbClr val="19D9FF"/>
                </a:solidFill>
                <a:latin typeface="Microsoft YaHei"/>
              </a:rPr>
              <a:t>35%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" y="4206240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950" b="1" i="0">
                <a:solidFill>
                  <a:srgbClr val="F6FAFF"/>
                </a:solidFill>
                <a:latin typeface="Microsoft YaHei"/>
              </a:rPr>
              <a:t>软件平台与云端编译/烧录能力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11880" y="4187952"/>
            <a:ext cx="5120640" cy="2286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611880" y="4187952"/>
            <a:ext cx="3200400" cy="228600"/>
          </a:xfrm>
          <a:prstGeom prst="roundRect">
            <a:avLst/>
          </a:prstGeom>
          <a:solidFill>
            <a:srgbClr val="8C5CFF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15400" y="4197096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 i="0">
                <a:solidFill>
                  <a:srgbClr val="8C5CFF"/>
                </a:solidFill>
                <a:latin typeface="Microsoft YaHei"/>
              </a:rPr>
              <a:t>25%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4709160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950" b="1" i="0">
                <a:solidFill>
                  <a:srgbClr val="F6FAFF"/>
                </a:solidFill>
                <a:latin typeface="Microsoft YaHei"/>
              </a:rPr>
              <a:t>团队补强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11880" y="4690872"/>
            <a:ext cx="5120640" cy="2286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611880" y="4690872"/>
            <a:ext cx="3200400" cy="228600"/>
          </a:xfrm>
          <a:prstGeom prst="roundRect">
            <a:avLst/>
          </a:prstGeom>
          <a:solidFill>
            <a:srgbClr val="5DFFB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15400" y="4700016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 i="0">
                <a:solidFill>
                  <a:srgbClr val="5DFFB3"/>
                </a:solidFill>
                <a:latin typeface="Microsoft YaHei"/>
              </a:rPr>
              <a:t>25%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" y="5212080"/>
            <a:ext cx="2560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950" b="1" i="0">
                <a:solidFill>
                  <a:srgbClr val="F6FAFF"/>
                </a:solidFill>
                <a:latin typeface="Microsoft YaHei"/>
              </a:rPr>
              <a:t>社区冷启动与内容合作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11880" y="5193792"/>
            <a:ext cx="5120640" cy="2286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611880" y="5193792"/>
            <a:ext cx="1920240" cy="228600"/>
          </a:xfrm>
          <a:prstGeom prst="roundRect">
            <a:avLst/>
          </a:prstGeom>
          <a:solidFill>
            <a:srgbClr val="FF4FD8"/>
          </a:solidFill>
          <a:ln w="12700"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15400" y="5202936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00" b="1" i="0">
                <a:solidFill>
                  <a:srgbClr val="FF4FD8"/>
                </a:solidFill>
                <a:latin typeface="Microsoft YaHei"/>
              </a:rPr>
              <a:t>15%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22960" y="5833872"/>
            <a:ext cx="9829800" cy="347472"/>
          </a:xfrm>
          <a:prstGeom prst="roundRect">
            <a:avLst/>
          </a:prstGeom>
          <a:solidFill>
            <a:srgbClr val="0C1F35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05840" y="5925312"/>
            <a:ext cx="946404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 i="0">
                <a:solidFill>
                  <a:srgbClr val="F6FAFF"/>
                </a:solidFill>
                <a:latin typeface="Microsoft YaHei"/>
              </a:rPr>
              <a:t>100% 只投关键验证：硬件能出货、平台能复刻、社区能启动。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88798" y="926116"/>
            <a:ext cx="32283" cy="3228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7444" y="643931"/>
            <a:ext cx="40974" cy="4097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04456" y="6600978"/>
            <a:ext cx="25241" cy="2524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64235" y="5840927"/>
            <a:ext cx="32636" cy="3263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67339" y="6656326"/>
            <a:ext cx="33169" cy="3316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3139" y="5595048"/>
            <a:ext cx="26229" cy="2622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4003" y="5403886"/>
            <a:ext cx="32537" cy="3253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628" y="6391429"/>
            <a:ext cx="32236" cy="3223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81010" y="6461010"/>
            <a:ext cx="29306" cy="2930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91542" y="362469"/>
            <a:ext cx="25331" cy="2533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3210" y="802303"/>
            <a:ext cx="18166" cy="1816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68497" y="1148028"/>
            <a:ext cx="19581" cy="1958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22022" y="5899548"/>
            <a:ext cx="37484" cy="3748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07534" y="752881"/>
            <a:ext cx="23780" cy="2378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706956" y="635970"/>
            <a:ext cx="22842" cy="2284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4209" y="5834487"/>
            <a:ext cx="26276" cy="2627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82143" y="5915413"/>
            <a:ext cx="24677" cy="2467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6669" y="5440691"/>
            <a:ext cx="23948" cy="2394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33565" y="6065450"/>
            <a:ext cx="17535" cy="1753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57269" y="1038320"/>
            <a:ext cx="38984" cy="3898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750161" y="1117853"/>
            <a:ext cx="32916" cy="3291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11406" y="885910"/>
            <a:ext cx="19307" cy="19307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50810" y="1322773"/>
            <a:ext cx="25660" cy="2566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487329" y="6395772"/>
            <a:ext cx="20422" cy="2042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57569" y="5901505"/>
            <a:ext cx="20183" cy="2018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34336" y="516392"/>
            <a:ext cx="40011" cy="4001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13/15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13 / Why Pusoft &amp; Pudong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为什么是浦软：赛道、阶段、产业链高度相邻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VibeBoard 与浦软的匹配不是泛泛的“智能硬件”，而是落在早期、张江、开发板与芯片产业链交叉处。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9808" y="1828800"/>
            <a:ext cx="3154680" cy="306324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859536" y="196596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59536" y="196596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05256" y="202996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16736" y="2011680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赛道相邻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" y="2450592"/>
            <a:ext cx="2743200" cy="2350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AI + 智能硬件，契合上海重点扶持方向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已投/相邻案例：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智位机器人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小佩宠物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南芯半导体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53128" y="1828800"/>
            <a:ext cx="3154680" cy="306324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4562856" y="1965960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62856" y="1965960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608576" y="2029968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08576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0056" y="2011680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阶段匹配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72584" y="2450592"/>
            <a:ext cx="2743200" cy="2350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早期天使轮，需要产业资源与验证场景，而非单纯资金。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已投/相邻案例：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浦软创业营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天使轮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浦东落地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56448" y="1828800"/>
            <a:ext cx="3154680" cy="306324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8266175" y="1965960"/>
            <a:ext cx="274321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266175" y="1965960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311896" y="2029968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1896" y="205740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3376" y="2011680"/>
            <a:ext cx="24414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400" b="1" i="0">
                <a:solidFill>
                  <a:srgbClr val="F6FAFF"/>
                </a:solidFill>
                <a:latin typeface="Microsoft YaHei"/>
              </a:rPr>
              <a:t>产业链相邻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75904" y="2450592"/>
            <a:ext cx="2743200" cy="2350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开发板、芯片、电源、传感器和硬件上下文可直接连接。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已投/相邻案例：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开发板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芯片/元器件</a:t>
            </a:r>
          </a:p>
          <a:p>
            <a:pPr>
              <a:spcAft>
                <a:spcPts val="300"/>
              </a:spcAft>
              <a:defRPr sz="919" b="0">
                <a:solidFill>
                  <a:srgbClr val="C8D8F2"/>
                </a:solidFill>
                <a:latin typeface="Microsoft YaHei"/>
              </a:defRPr>
            </a:pPr>
            <a:r>
              <a:t>· 智能硬件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5321808"/>
            <a:ext cx="100584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800" b="1" i="0">
                <a:solidFill>
                  <a:srgbClr val="F6FAFF"/>
                </a:solidFill>
                <a:latin typeface="Microsoft YaHei"/>
              </a:rPr>
              <a:t>我们要覆盖的硬件上下文，正好连接这些智能硬件与芯片资产。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6576" y="438510"/>
            <a:ext cx="32715" cy="3271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05331" y="6486115"/>
            <a:ext cx="25298" cy="25298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82666" y="943299"/>
            <a:ext cx="32548" cy="32548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42907" y="6661122"/>
            <a:ext cx="38590" cy="3859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02837" y="1047724"/>
            <a:ext cx="23145" cy="23145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2254" y="5343073"/>
            <a:ext cx="19379" cy="1937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33190" y="5458416"/>
            <a:ext cx="27696" cy="2769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73368" y="5869329"/>
            <a:ext cx="18099" cy="1809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24411" y="610783"/>
            <a:ext cx="25038" cy="25038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94806" y="6031210"/>
            <a:ext cx="18813" cy="18813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999" y="6581675"/>
            <a:ext cx="40896" cy="4089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34475" y="1208995"/>
            <a:ext cx="21590" cy="2159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83516" y="1271282"/>
            <a:ext cx="29004" cy="2900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636493" y="1081567"/>
            <a:ext cx="22564" cy="2256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76848" y="348294"/>
            <a:ext cx="21682" cy="2168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2771" y="5751356"/>
            <a:ext cx="26796" cy="26796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4497" y="5536929"/>
            <a:ext cx="41016" cy="41016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38041" y="5324313"/>
            <a:ext cx="17987" cy="1798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72117" y="1210897"/>
            <a:ext cx="18141" cy="1814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7594" y="5869937"/>
            <a:ext cx="34192" cy="3419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45263" y="918215"/>
            <a:ext cx="34355" cy="34355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96021" y="6272080"/>
            <a:ext cx="17181" cy="17181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27976" y="6434107"/>
            <a:ext cx="17089" cy="1708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627067" y="6207817"/>
            <a:ext cx="40444" cy="4044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36346" y="1338362"/>
            <a:ext cx="21276" cy="21276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11037" y="6199899"/>
            <a:ext cx="35582" cy="35582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14/15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 i="0">
                <a:solidFill>
                  <a:srgbClr val="19D9FF"/>
                </a:solidFill>
                <a:latin typeface="Microsoft YaHei"/>
              </a:rPr>
              <a:t>14 / Team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8368"/>
            <a:ext cx="71323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2600" b="1" i="0">
                <a:solidFill>
                  <a:srgbClr val="F6FAFF"/>
                </a:solidFill>
                <a:latin typeface="Microsoft YaHei"/>
              </a:rPr>
              <a:t>四位 00 后，覆盖硬件、芯片、软件、系统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7" y="1207008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050" b="0" i="0">
                <a:solidFill>
                  <a:srgbClr val="C8D8F2"/>
                </a:solidFill>
                <a:latin typeface="Microsoft YaHei"/>
              </a:rPr>
              <a:t>团队不是临时拼凑：角色能力与 VibeBoard 的关键模块一一对应，且产品已由这几人实际跑通。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1709928"/>
            <a:ext cx="1417320" cy="71323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1819656"/>
            <a:ext cx="1197864" cy="32095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19D9FF"/>
                </a:solidFill>
                <a:latin typeface="Microsoft YaHei"/>
              </a:rPr>
              <a:t>109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2123602"/>
            <a:ext cx="119786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月提交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331720" y="1709928"/>
            <a:ext cx="1143000" cy="71323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8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41448" y="1819656"/>
            <a:ext cx="923544" cy="32095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8C5CFF"/>
                </a:solidFill>
                <a:latin typeface="Microsoft YaHe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41448" y="2123602"/>
            <a:ext cx="92354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板卡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703320" y="1709928"/>
            <a:ext cx="1143000" cy="71323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5DF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13048" y="1819656"/>
            <a:ext cx="923544" cy="32095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5DFFB3"/>
                </a:solidFill>
                <a:latin typeface="Microsoft YaHe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3048" y="2123602"/>
            <a:ext cx="92354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框架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74920" y="1709928"/>
            <a:ext cx="1325880" cy="713232"/>
          </a:xfrm>
          <a:prstGeom prst="roundRect">
            <a:avLst/>
          </a:prstGeom>
          <a:solidFill>
            <a:srgbClr val="0B1B33"/>
          </a:solidFill>
          <a:ln w="12700">
            <a:solidFill>
              <a:srgbClr val="FF4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84648" y="1819656"/>
            <a:ext cx="1106424" cy="32095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normAutofit/>
          </a:bodyPr>
          <a:lstStyle/>
          <a:p>
            <a:pPr algn="ctr"/>
            <a:r>
              <a:rPr sz="3000" b="1" i="0">
                <a:solidFill>
                  <a:srgbClr val="FF4FD8"/>
                </a:solidFill>
                <a:latin typeface="Microsoft YaHei"/>
              </a:rPr>
              <a:t>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84648" y="2123602"/>
            <a:ext cx="1106424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950" b="0" i="0">
                <a:solidFill>
                  <a:srgbClr val="C8D8F2"/>
                </a:solidFill>
                <a:latin typeface="Microsoft YaHei"/>
              </a:rPr>
              <a:t>技能包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0840" y="1901952"/>
            <a:ext cx="4160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100" b="1" i="0">
                <a:solidFill>
                  <a:srgbClr val="19D9FF"/>
                </a:solidFill>
                <a:latin typeface="Microsoft YaHei"/>
              </a:rPr>
              <a:t>已跑通从一句话到真机运行的编译烧录闭环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3232" y="2880360"/>
            <a:ext cx="2423160" cy="20574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22960" y="301752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22960" y="301752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68680" y="3081528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310896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0160" y="306324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创始人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3502152"/>
            <a:ext cx="2011679" cy="1344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AI 服务器硬件工程师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分工：硬件总体、产品方向、平台研发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状态：在职，随时可全职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502152" y="2880360"/>
            <a:ext cx="2423160" cy="20574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3611880" y="3017520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611880" y="3017520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3657600" y="3081528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0" y="310896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芯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69080" y="306324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芯片/硬件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21608" y="3502152"/>
            <a:ext cx="2011679" cy="1344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嵌入式与外设调试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分工：板卡适配、驱动、技能包沉淀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状态：核心兼职/可加入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91072" y="2880360"/>
            <a:ext cx="2423160" cy="20574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400800" y="3017520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400800" y="3017520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6446520" y="3081528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46520" y="310896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软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0" y="306324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软件工程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10528" y="3502152"/>
            <a:ext cx="2011679" cy="1344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前后端与云端编译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分工：项目生成、编译服务、烧录链路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状态：核心开发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79991" y="2880360"/>
            <a:ext cx="2423160" cy="20574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9189719" y="3017520"/>
            <a:ext cx="274320" cy="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189719" y="3017520"/>
            <a:ext cx="0" cy="274320"/>
          </a:xfrm>
          <a:prstGeom prst="line">
            <a:avLst/>
          </a:prstGeom>
          <a:ln w="21590">
            <a:solidFill>
              <a:srgbClr val="FF4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9235439" y="3081528"/>
            <a:ext cx="329184" cy="329184"/>
          </a:xfrm>
          <a:prstGeom prst="roundRect">
            <a:avLst/>
          </a:prstGeom>
          <a:solidFill>
            <a:srgbClr val="FF4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35439" y="310896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产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46919" y="3063240"/>
            <a:ext cx="170992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系统/产品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99447" y="3502152"/>
            <a:ext cx="2011679" cy="1344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项目市场与用户路径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分工：内容复刻、KOL 合作、运营闭环</a:t>
            </a:r>
          </a:p>
          <a:p>
            <a:pPr>
              <a:spcAft>
                <a:spcPts val="300"/>
              </a:spcAft>
              <a:defRPr sz="800" b="0">
                <a:solidFill>
                  <a:srgbClr val="C8D8F2"/>
                </a:solidFill>
                <a:latin typeface="Microsoft YaHei"/>
              </a:defRPr>
            </a:pPr>
            <a:r>
              <a:t>状态：早期合伙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5623560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250" b="1" i="0">
                <a:solidFill>
                  <a:srgbClr val="F6FAFF"/>
                </a:solidFill>
                <a:latin typeface="Microsoft YaHei"/>
              </a:rPr>
              <a:t>这页证明的是执行力：小团队已完成过去需要更大团队推进的开发量。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6858000" cy="3200400"/>
          </a:xfrm>
          <a:prstGeom prst="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4389120"/>
            <a:ext cx="5669280" cy="2743200"/>
          </a:xfrm>
          <a:prstGeom prst="rect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520000">
            <a:off x="6949440" y="-731520"/>
            <a:ext cx="5303520" cy="109728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0520000">
            <a:off x="7315200" y="-228600"/>
            <a:ext cx="5029200" cy="91440"/>
          </a:xfrm>
          <a:prstGeom prst="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520000">
            <a:off x="-457200" y="6656832"/>
            <a:ext cx="5943600" cy="73152"/>
          </a:xfrm>
          <a:prstGeom prst="rect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0520000">
            <a:off x="4754880" y="6812280"/>
            <a:ext cx="7315200" cy="73152"/>
          </a:xfrm>
          <a:prstGeom prst="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4984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38560" y="0"/>
            <a:ext cx="0" cy="685800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7315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173736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74320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749039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475488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5760720"/>
            <a:ext cx="12188952" cy="0"/>
          </a:xfrm>
          <a:prstGeom prst="line">
            <a:avLst/>
          </a:prstGeom>
          <a:ln w="6350">
            <a:solidFill>
              <a:srgbClr val="163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944936" y="1260243"/>
            <a:ext cx="38172" cy="3817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886830" y="5732540"/>
            <a:ext cx="22960" cy="2296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84806" y="5550606"/>
            <a:ext cx="37214" cy="3721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82931" y="6156576"/>
            <a:ext cx="35639" cy="3563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08873" y="311876"/>
            <a:ext cx="23535" cy="2353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94817" y="6273596"/>
            <a:ext cx="26370" cy="2637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5569" y="5452816"/>
            <a:ext cx="26011" cy="2601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48309" y="5380915"/>
            <a:ext cx="26082" cy="26082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73390" y="5299000"/>
            <a:ext cx="20369" cy="2036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5019" y="5331643"/>
            <a:ext cx="22181" cy="2218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21066" y="6314784"/>
            <a:ext cx="27164" cy="27164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94461" y="6383541"/>
            <a:ext cx="16830" cy="16830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703613" y="6655016"/>
            <a:ext cx="24480" cy="24480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31253" y="379611"/>
            <a:ext cx="32294" cy="3229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987052" y="5673156"/>
            <a:ext cx="34672" cy="34672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52638" y="97303"/>
            <a:ext cx="33947" cy="33947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39925" y="563539"/>
            <a:ext cx="41037" cy="41037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546230" y="6096485"/>
            <a:ext cx="17164" cy="17164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93953" y="1264360"/>
            <a:ext cx="18909" cy="18909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750644" y="659928"/>
            <a:ext cx="24411" cy="24411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8684" y="568026"/>
            <a:ext cx="28280" cy="28280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19680" y="1275371"/>
            <a:ext cx="32879" cy="32879"/>
          </a:xfrm>
          <a:prstGeom prst="ellipse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35786" y="5217585"/>
            <a:ext cx="27445" cy="27445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075693" y="1122916"/>
            <a:ext cx="20559" cy="20559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40159" y="756959"/>
            <a:ext cx="20654" cy="20654"/>
          </a:xfrm>
          <a:prstGeom prst="ellipse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94485" y="6474579"/>
            <a:ext cx="22731" cy="22731"/>
          </a:xfrm>
          <a:prstGeom prst="ellipse">
            <a:avLst/>
          </a:prstGeom>
          <a:solidFill>
            <a:srgbClr val="3A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44652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0" i="0">
                <a:solidFill>
                  <a:srgbClr val="C8D8F2"/>
                </a:solidFill>
                <a:latin typeface="Microsoft YaHei"/>
              </a:rPr>
              <a:t>VibeBoard // AI Hardware Creation 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6437376"/>
            <a:ext cx="1143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 i="0">
                <a:solidFill>
                  <a:srgbClr val="19D9FF"/>
                </a:solidFill>
                <a:latin typeface="Microsoft YaHei"/>
              </a:rPr>
              <a:t>15/15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94360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1" i="0">
                <a:solidFill>
                  <a:srgbClr val="19D9FF"/>
                </a:solidFill>
                <a:latin typeface="Microsoft YaHei"/>
              </a:rPr>
              <a:t>15 / Closing Ask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1097280"/>
            <a:ext cx="77724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3400" b="1" i="0">
                <a:solidFill>
                  <a:srgbClr val="F6FAFF"/>
                </a:solidFill>
                <a:latin typeface="Microsoft YaHei"/>
              </a:rPr>
              <a:t>把 AI 的创造力，从屏幕延伸到现实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1874519"/>
            <a:ext cx="65836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600" b="0" i="0">
                <a:solidFill>
                  <a:srgbClr val="C8D8F2"/>
                </a:solidFill>
                <a:latin typeface="Microsoft YaHei"/>
              </a:rPr>
              <a:t>VibeBoard 要做的不是又一个开发板，而是让自然语言第一次稳定地驱动物理世界。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2743200"/>
            <a:ext cx="5760720" cy="914400"/>
          </a:xfrm>
          <a:prstGeom prst="roundRect">
            <a:avLst/>
          </a:prstGeom>
          <a:solidFill>
            <a:srgbClr val="0C1F35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2" y="2944368"/>
            <a:ext cx="52578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700" b="1" i="0">
                <a:solidFill>
                  <a:srgbClr val="F6FAFF"/>
                </a:solidFill>
                <a:latin typeface="Microsoft YaHei"/>
              </a:rPr>
              <a:t>我们已经证明：一句话 → 工程 → 编译 → 烧录 → 真机运行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" y="4206240"/>
            <a:ext cx="2926080" cy="11430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32688" y="4343400"/>
            <a:ext cx="274320" cy="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32688" y="4343400"/>
            <a:ext cx="0" cy="274320"/>
          </a:xfrm>
          <a:prstGeom prst="line">
            <a:avLst/>
          </a:prstGeom>
          <a:ln w="21590">
            <a:solidFill>
              <a:srgbClr val="19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78408" y="4407407"/>
            <a:ext cx="329184" cy="329184"/>
          </a:xfrm>
          <a:prstGeom prst="roundRect">
            <a:avLst/>
          </a:prstGeom>
          <a:solidFill>
            <a:srgbClr val="19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" y="44348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89888" y="4389120"/>
            <a:ext cx="22128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天使轮融资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" y="4828031"/>
            <a:ext cx="2514600" cy="4297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300–500万</a:t>
            </a:r>
          </a:p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支撑 18 个月验证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51960" y="4206240"/>
            <a:ext cx="2926080" cy="11430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361688" y="4343400"/>
            <a:ext cx="274320" cy="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361688" y="4343400"/>
            <a:ext cx="0" cy="274320"/>
          </a:xfrm>
          <a:prstGeom prst="line">
            <a:avLst/>
          </a:prstGeom>
          <a:ln w="21590">
            <a:solidFill>
              <a:srgbClr val="8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4407408" y="4407407"/>
            <a:ext cx="329184" cy="329184"/>
          </a:xfrm>
          <a:prstGeom prst="roundRect">
            <a:avLst/>
          </a:prstGeom>
          <a:solidFill>
            <a:srgbClr val="8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07408" y="44348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4389120"/>
            <a:ext cx="22128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落地承诺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71416" y="4828031"/>
            <a:ext cx="2514600" cy="4297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上海浦东</a:t>
            </a:r>
          </a:p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注册与交割同步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80960" y="4206240"/>
            <a:ext cx="2926080" cy="1143000"/>
          </a:xfrm>
          <a:prstGeom prst="roundRect">
            <a:avLst/>
          </a:prstGeom>
          <a:solidFill>
            <a:srgbClr val="10213B"/>
          </a:solidFill>
          <a:ln w="12700">
            <a:solidFill>
              <a:srgbClr val="2549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7790688" y="4343400"/>
            <a:ext cx="274320" cy="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790688" y="4343400"/>
            <a:ext cx="0" cy="274320"/>
          </a:xfrm>
          <a:prstGeom prst="line">
            <a:avLst/>
          </a:prstGeom>
          <a:ln w="21590">
            <a:solidFill>
              <a:srgbClr val="5D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7836408" y="4407407"/>
            <a:ext cx="329184" cy="329184"/>
          </a:xfrm>
          <a:prstGeom prst="roundRect">
            <a:avLst/>
          </a:prstGeom>
          <a:solidFill>
            <a:srgbClr val="5D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36408" y="4434840"/>
            <a:ext cx="3291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 b="1" i="0">
                <a:solidFill>
                  <a:srgbClr val="07111F"/>
                </a:solidFill>
                <a:latin typeface="Microsoft YaHei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47888" y="4389120"/>
            <a:ext cx="2212848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250" b="1" i="0">
                <a:solidFill>
                  <a:srgbClr val="F6FAFF"/>
                </a:solidFill>
                <a:latin typeface="Microsoft YaHei"/>
              </a:rPr>
              <a:t>现场可验证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0416" y="4828031"/>
            <a:ext cx="2514600" cy="4297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真机演示</a:t>
            </a:r>
          </a:p>
          <a:p>
            <a:pPr>
              <a:spcAft>
                <a:spcPts val="300"/>
              </a:spcAft>
              <a:defRPr sz="930" b="0">
                <a:solidFill>
                  <a:srgbClr val="C8D8F2"/>
                </a:solidFill>
                <a:latin typeface="Microsoft YaHei"/>
              </a:defRPr>
            </a:pPr>
            <a:r>
              <a:t>不是概念，不是原型图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24928" y="1389888"/>
            <a:ext cx="3575304" cy="2203704"/>
          </a:xfrm>
          <a:prstGeom prst="roundRect">
            <a:avLst/>
          </a:prstGeom>
          <a:solidFill>
            <a:srgbClr val="0E2445"/>
          </a:solidFill>
          <a:ln w="12700">
            <a:solidFill>
              <a:srgbClr val="1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_ecea2d92143d7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3520440" cy="214884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543800" y="3273552"/>
            <a:ext cx="33375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 i="0">
                <a:solidFill>
                  <a:srgbClr val="F6FAFF"/>
                </a:solidFill>
                <a:latin typeface="Microsoft YaHei"/>
              </a:rPr>
              <a:t>工程闭环已跑通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71231" y="3886200"/>
            <a:ext cx="32918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l"/>
            <a:r>
              <a:rPr sz="1300" b="1" i="0">
                <a:solidFill>
                  <a:srgbClr val="F6FAFF"/>
                </a:solidFill>
                <a:latin typeface="Microsoft YaHei"/>
              </a:rPr>
              <a:t>现在需要资本与产业资源，把闭环从 demo 推向硬件出货、项目市场与社区飞轮。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35240" y="5166360"/>
            <a:ext cx="3154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 i="0">
                <a:solidFill>
                  <a:srgbClr val="19D9FF"/>
                </a:solidFill>
                <a:latin typeface="Microsoft YaHei"/>
              </a:rPr>
              <a:t>VibeBoard / ESP32 Vibe 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